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4"/>
    <p:sldId id="258" r:id="rId5"/>
    <p:sldId id="259" r:id="rId6"/>
    <p:sldId id="265" r:id="rId7"/>
    <p:sldId id="267" r:id="rId8"/>
    <p:sldId id="268" r:id="rId9"/>
    <p:sldId id="270" r:id="rId10"/>
    <p:sldId id="260" r:id="rId11"/>
    <p:sldId id="269" r:id="rId12"/>
    <p:sldId id="271" r:id="rId13"/>
    <p:sldId id="272" r:id="rId14"/>
    <p:sldId id="273" r:id="rId15"/>
    <p:sldId id="261" r:id="rId16"/>
    <p:sldId id="266" r:id="rId17"/>
    <p:sldId id="262" r:id="rId18"/>
    <p:sldId id="263" r:id="rId19"/>
    <p:sldId id="274" r:id="rId20"/>
    <p:sldId id="275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53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50000"/>
            <a:lum/>
          </a:blip>
          <a:srcRect/>
          <a:stretch>
            <a:fillRect l="-20000" r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Projet Fil Rouge : Système de Trading GBP/USD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M1 → M15 → ML → RL → API → Docker</a:t>
            </a:r>
          </a:p>
          <a:p>
            <a:r>
              <a:rPr lang="fr-FR" dirty="0"/>
              <a:t>Ludovic Picard – Jean-Corentin Loirat</a:t>
            </a:r>
          </a:p>
          <a:p>
            <a:r>
              <a:rPr lang="fr-FR" dirty="0"/>
              <a:t>Février 2026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6E1333A-4E6F-FDED-EEFC-859880662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17"/>
            <a:ext cx="3111313" cy="20742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Contexte &amp; 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dirty="0"/>
              <a:t>Conception d'un </a:t>
            </a:r>
            <a:r>
              <a:rPr dirty="0" err="1"/>
              <a:t>système</a:t>
            </a:r>
            <a:r>
              <a:rPr dirty="0"/>
              <a:t> de </a:t>
            </a:r>
            <a:r>
              <a:rPr dirty="0" err="1"/>
              <a:t>décision</a:t>
            </a:r>
            <a:r>
              <a:rPr dirty="0"/>
              <a:t> </a:t>
            </a:r>
            <a:r>
              <a:rPr dirty="0" err="1"/>
              <a:t>algorithmique</a:t>
            </a:r>
            <a:r>
              <a:rPr dirty="0"/>
              <a:t> sur la </a:t>
            </a:r>
            <a:r>
              <a:rPr dirty="0" err="1"/>
              <a:t>paire</a:t>
            </a:r>
            <a:r>
              <a:rPr dirty="0"/>
              <a:t> GBP/USD.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dirty="0"/>
              <a:t>Données : </a:t>
            </a:r>
            <a:r>
              <a:rPr dirty="0" err="1"/>
              <a:t>Fréquence</a:t>
            </a:r>
            <a:r>
              <a:rPr dirty="0"/>
              <a:t> brute 1 minute -&gt; </a:t>
            </a:r>
            <a:r>
              <a:rPr dirty="0" err="1"/>
              <a:t>Décision</a:t>
            </a:r>
            <a:r>
              <a:rPr dirty="0"/>
              <a:t> 15 minutes.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dirty="0"/>
              <a:t>Actions : BUY, SELL, HOLD.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dirty="0"/>
              <a:t>Objectif : Maximiser le profit </a:t>
            </a:r>
            <a:r>
              <a:rPr dirty="0" err="1"/>
              <a:t>cumulé</a:t>
            </a:r>
            <a:r>
              <a:rPr dirty="0"/>
              <a:t> sous </a:t>
            </a:r>
            <a:r>
              <a:rPr dirty="0" err="1"/>
              <a:t>contraintes</a:t>
            </a:r>
            <a:r>
              <a:rPr dirty="0"/>
              <a:t> :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dirty="0" err="1"/>
              <a:t>Coûts</a:t>
            </a:r>
            <a:r>
              <a:rPr dirty="0"/>
              <a:t> de transaction </a:t>
            </a:r>
            <a:r>
              <a:rPr dirty="0" err="1"/>
              <a:t>réalistes</a:t>
            </a:r>
            <a:endParaRPr dirty="0"/>
          </a:p>
          <a:p>
            <a:pPr lvl="2">
              <a:buFont typeface="Wingdings" panose="05000000000000000000" pitchFamily="2" charset="2"/>
              <a:buChar char="ü"/>
            </a:pPr>
            <a:r>
              <a:rPr dirty="0"/>
              <a:t>Drawdown </a:t>
            </a:r>
            <a:r>
              <a:rPr dirty="0" err="1"/>
              <a:t>limité</a:t>
            </a:r>
            <a:endParaRPr dirty="0"/>
          </a:p>
          <a:p>
            <a:pPr lvl="2">
              <a:buFont typeface="Wingdings" panose="05000000000000000000" pitchFamily="2" charset="2"/>
              <a:buChar char="ü"/>
            </a:pPr>
            <a:r>
              <a:rPr dirty="0"/>
              <a:t>Robustesse inter-</a:t>
            </a:r>
            <a:r>
              <a:rPr dirty="0" err="1"/>
              <a:t>annuelle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5E64-B5DB-366D-E048-D18303BBC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Phases du projet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8F254A1E-1A59-25B0-AFAA-E69BFB6EC2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218092"/>
              </p:ext>
            </p:extLst>
          </p:nvPr>
        </p:nvGraphicFramePr>
        <p:xfrm>
          <a:off x="457199" y="1794744"/>
          <a:ext cx="4634754" cy="355718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5552">
                  <a:extLst>
                    <a:ext uri="{9D8B030D-6E8A-4147-A177-3AD203B41FA5}">
                      <a16:colId xmlns:a16="http://schemas.microsoft.com/office/drawing/2014/main" val="3065368859"/>
                    </a:ext>
                  </a:extLst>
                </a:gridCol>
                <a:gridCol w="3063650">
                  <a:extLst>
                    <a:ext uri="{9D8B030D-6E8A-4147-A177-3AD203B41FA5}">
                      <a16:colId xmlns:a16="http://schemas.microsoft.com/office/drawing/2014/main" val="3392257643"/>
                    </a:ext>
                  </a:extLst>
                </a:gridCol>
                <a:gridCol w="785552">
                  <a:extLst>
                    <a:ext uri="{9D8B030D-6E8A-4147-A177-3AD203B41FA5}">
                      <a16:colId xmlns:a16="http://schemas.microsoft.com/office/drawing/2014/main" val="1362748888"/>
                    </a:ext>
                  </a:extLst>
                </a:gridCol>
              </a:tblGrid>
              <a:tr h="46622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ID</a:t>
                      </a:r>
                      <a:endParaRPr lang="fr-FR" sz="11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Tâche </a:t>
                      </a:r>
                      <a:endParaRPr lang="fr-F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Responsable</a:t>
                      </a:r>
                      <a:endParaRPr lang="fr-F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552870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T01 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Import M1 + contrôle régularité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75861981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T02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Agrégation M1→M15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Ludo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30323691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T03 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Nettoyage M15 + rapport qualité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58814740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T04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Analyse exploratoire + ADF/ACF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Ludo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63927417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T05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Feature Pack V2 (court terme + régime)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990339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T06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Baseline règles + backtest simple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Ludo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61328506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T07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ML (split temporel + modèles + éval)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70218861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T08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RL (env + reward + entraînement)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Ludo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2308426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T09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Évaluation robuste (benchmarks +2024)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JC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74394747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T10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API (contrat + </a:t>
                      </a:r>
                      <a:r>
                        <a:rPr lang="fr-FR" sz="1100" u="none" strike="noStrike" dirty="0" err="1">
                          <a:effectLst/>
                        </a:rPr>
                        <a:t>endpoints</a:t>
                      </a:r>
                      <a:r>
                        <a:rPr lang="fr-FR" sz="1100" u="none" strike="noStrike" dirty="0">
                          <a:effectLst/>
                        </a:rPr>
                        <a:t> + chargement modèle)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Ludo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61230239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T11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Versioning modèle (v1/v2 + </a:t>
                      </a:r>
                      <a:r>
                        <a:rPr lang="fr-FR" sz="1100" u="none" strike="noStrike" dirty="0" err="1">
                          <a:effectLst/>
                        </a:rPr>
                        <a:t>registry</a:t>
                      </a:r>
                      <a:r>
                        <a:rPr lang="fr-FR" sz="1100" u="none" strike="noStrike" dirty="0">
                          <a:effectLst/>
                        </a:rPr>
                        <a:t>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1802258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T12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Docker + exécution reproductible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Ludo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90964618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A8BE4EA7-BA88-7409-6A24-C4F2C0760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019"/>
          <a:stretch>
            <a:fillRect/>
          </a:stretch>
        </p:blipFill>
        <p:spPr>
          <a:xfrm>
            <a:off x="5881254" y="1134035"/>
            <a:ext cx="2805546" cy="5589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039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Données &amp; Split </a:t>
            </a:r>
            <a:r>
              <a:rPr dirty="0" err="1"/>
              <a:t>Temporel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257365" cy="4525963"/>
          </a:xfrm>
        </p:spPr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dirty="0" err="1"/>
              <a:t>Période</a:t>
            </a:r>
            <a:r>
              <a:rPr dirty="0"/>
              <a:t> disponible : 2022 - 202</a:t>
            </a:r>
            <a:r>
              <a:rPr lang="fr-FR" dirty="0"/>
              <a:t>5</a:t>
            </a:r>
            <a:endParaRPr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D26236E-B616-755A-9CFE-D5195F0BE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569" y="2247794"/>
            <a:ext cx="3172231" cy="3878369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E0EB7D3-96C2-08CD-BEBE-BC6EEF425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031" y="2420083"/>
            <a:ext cx="4829849" cy="15337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 1 : Importation M1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Wingdings" panose="05000000000000000000" pitchFamily="2" charset="2"/>
              <a:buChar char="ü"/>
            </a:pPr>
            <a:r>
              <a:rPr sz="1800" dirty="0" err="1"/>
              <a:t>Nettoyage</a:t>
            </a:r>
            <a:r>
              <a:rPr lang="fr-FR" sz="1800" dirty="0"/>
              <a:t> : retrait des doublons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800" dirty="0"/>
              <a:t>F</a:t>
            </a:r>
            <a:r>
              <a:rPr sz="1800" dirty="0" err="1"/>
              <a:t>usion</a:t>
            </a:r>
            <a:r>
              <a:rPr sz="1800" dirty="0"/>
              <a:t> date/</a:t>
            </a:r>
            <a:r>
              <a:rPr sz="1800" dirty="0" err="1"/>
              <a:t>heure</a:t>
            </a:r>
            <a:endParaRPr lang="fr-FR" sz="1800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800" dirty="0"/>
              <a:t>V</a:t>
            </a:r>
            <a:r>
              <a:rPr sz="1800" dirty="0" err="1"/>
              <a:t>érification</a:t>
            </a:r>
            <a:r>
              <a:rPr sz="1800" dirty="0"/>
              <a:t> </a:t>
            </a:r>
            <a:r>
              <a:rPr sz="1800" dirty="0" err="1"/>
              <a:t>régularité</a:t>
            </a:r>
            <a:r>
              <a:rPr lang="fr-FR" sz="1800" dirty="0"/>
              <a:t> (gestion des gaps)</a:t>
            </a:r>
            <a:br>
              <a:rPr lang="fr-FR" dirty="0"/>
            </a:br>
            <a:endParaRPr lang="fr-F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0FEC6C-90AE-3289-EEEE-E63B5A08E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Phase 2 : Agrégation M1 -&gt; M15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0DE6B2-3A8B-834D-1875-91F728EFB4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Wingdings" panose="05000000000000000000" pitchFamily="2" charset="2"/>
              <a:buChar char="ü"/>
            </a:pPr>
            <a:r>
              <a:rPr lang="fr-FR" dirty="0" err="1"/>
              <a:t>Resampling</a:t>
            </a:r>
            <a:r>
              <a:rPr lang="fr-FR" dirty="0"/>
              <a:t> : passage en bougies 15 minutes :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open 15 minutes = open de la 1</a:t>
            </a:r>
            <a:r>
              <a:rPr lang="fr-FR" baseline="30000" dirty="0"/>
              <a:t>ère</a:t>
            </a:r>
            <a:r>
              <a:rPr lang="fr-FR" dirty="0"/>
              <a:t> minute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High = maximum sur les 15 minutes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Low = Minimum sur les 15 minutes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Close = close de la dernière minute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Intégration de </a:t>
            </a:r>
            <a:r>
              <a:rPr lang="fr-FR" dirty="0" err="1"/>
              <a:t>ticks</a:t>
            </a:r>
            <a:r>
              <a:rPr lang="fr-FR" dirty="0"/>
              <a:t> pour connaître le nombre de minutes dans une bougie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3D19FC3-5850-C0F4-7CA0-4AA1A9CC4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548" y="4639991"/>
            <a:ext cx="5934903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616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4AA1B4-A763-C6A0-769C-53030240F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Phase 3 : Nettoyage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D677F4-EC50-89A8-AC83-59E58C9A61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fr-FR" dirty="0"/>
              <a:t> Contrôle des valeurs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fr-FR" dirty="0"/>
              <a:t>Filtre des bougies incomplètes (12ticks mini)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fr-FR" dirty="0"/>
              <a:t>Filtre des bougies anormales (high &lt; </a:t>
            </a:r>
            <a:r>
              <a:rPr lang="fr-FR" dirty="0" err="1"/>
              <a:t>low</a:t>
            </a:r>
            <a:r>
              <a:rPr lang="fr-FR" dirty="0"/>
              <a:t>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fr-FR" dirty="0"/>
              <a:t>Gaps anormaux.</a:t>
            </a:r>
          </a:p>
        </p:txBody>
      </p:sp>
    </p:spTree>
    <p:extLst>
      <p:ext uri="{BB962C8B-B14F-4D97-AF65-F5344CB8AC3E}">
        <p14:creationId xmlns:p14="http://schemas.microsoft.com/office/powerpoint/2010/main" val="1018089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2A1059-F7C1-5FE1-63EB-53AB278D2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 4 : Analyse exploratoire</a:t>
            </a:r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45788B0E-FE80-A633-7D6D-71DB80BEEA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2541891"/>
              </p:ext>
            </p:extLst>
          </p:nvPr>
        </p:nvGraphicFramePr>
        <p:xfrm>
          <a:off x="261357" y="1386261"/>
          <a:ext cx="8229600" cy="5032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0803697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381025899"/>
                    </a:ext>
                  </a:extLst>
                </a:gridCol>
              </a:tblGrid>
              <a:tr h="2516234">
                <a:tc>
                  <a:txBody>
                    <a:bodyPr/>
                    <a:lstStyle/>
                    <a:p>
                      <a:r>
                        <a:rPr lang="fr-FR" dirty="0"/>
                        <a:t>Distribution</a:t>
                      </a:r>
                    </a:p>
                    <a:p>
                      <a:endParaRPr lang="fr-FR" dirty="0"/>
                    </a:p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Volatilité</a:t>
                      </a:r>
                    </a:p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6736409"/>
                  </a:ext>
                </a:extLst>
              </a:tr>
              <a:tr h="2516234">
                <a:tc>
                  <a:txBody>
                    <a:bodyPr/>
                    <a:lstStyle/>
                    <a:p>
                      <a:r>
                        <a:rPr lang="fr-FR" dirty="0"/>
                        <a:t>Rendement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Autocorrélation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2972571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D830BB08-C5CE-9638-CE7E-E5582F75C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933" y="4518361"/>
            <a:ext cx="3683765" cy="11430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4F5B2023-5EE7-0B22-DC3C-61382B7E8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24" y="2036518"/>
            <a:ext cx="3915207" cy="107423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0E5F626E-E386-D85F-0577-82A5CB082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496" y="4296191"/>
            <a:ext cx="3165985" cy="2050104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B2661C2D-6233-7B10-A0BF-3117032324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39" y="511705"/>
            <a:ext cx="4120926" cy="300702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CD3AAD32-C889-23C4-2CC1-7ED2E96BC1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9874" y="1740314"/>
            <a:ext cx="3855587" cy="1908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31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474ACD-9FFC-4659-9837-3F0087302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Phase 5 – </a:t>
            </a:r>
            <a:r>
              <a:rPr lang="fr-FR" dirty="0" err="1"/>
              <a:t>Feature</a:t>
            </a:r>
            <a:r>
              <a:rPr lang="fr-FR" dirty="0"/>
              <a:t> engineering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B0F750-C285-B7AE-B828-3BF5AB7DA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fr-FR" sz="1400" dirty="0"/>
              <a:t>2 blocs :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400" dirty="0"/>
              <a:t>Court terme : Dynamique immédiate du prix (</a:t>
            </a:r>
            <a:r>
              <a:rPr lang="fr-FR" sz="1400" dirty="0" err="1"/>
              <a:t>Returns</a:t>
            </a:r>
            <a:r>
              <a:rPr lang="fr-FR" sz="1400" dirty="0"/>
              <a:t>, RSI, Ranges)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400" dirty="0"/>
              <a:t>Contexte &amp; Régime : Tendances de fond (EDA 200, ADX) et volatilité (ATR)</a:t>
            </a:r>
            <a:br>
              <a:rPr lang="fr-FR" dirty="0"/>
            </a:b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5335285-282A-819F-8AD1-CBE46D18E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250" y="2498930"/>
            <a:ext cx="6546850" cy="3627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014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 V2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Indicateurs techniques calculés sur le passé uniquement.</a:t>
            </a:r>
          </a:p>
          <a:p>
            <a:pPr lvl="1"/>
            <a:r>
              <a:t>Bloc Court Terme (Dynamique) :</a:t>
            </a:r>
          </a:p>
          <a:p>
            <a:pPr lvl="2"/>
            <a:r>
              <a:t>Returns, EMA (20, 50), RSI 14, Volatilité roulante.</a:t>
            </a:r>
          </a:p>
          <a:p>
            <a:pPr lvl="1"/>
            <a:r>
              <a:t>Bloc Contexte (Régime) :</a:t>
            </a:r>
          </a:p>
          <a:p>
            <a:pPr lvl="2"/>
            <a:r>
              <a:t>Tendance long terme (EMA 200), ATR 14, ADX, MACD.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D2382F-65CE-32D3-3F6C-A4B2DC079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 6 – </a:t>
            </a:r>
            <a:r>
              <a:rPr lang="fr-FR" dirty="0" err="1"/>
              <a:t>Baselines</a:t>
            </a:r>
            <a:r>
              <a:rPr lang="fr-FR" dirty="0"/>
              <a:t> &amp; </a:t>
            </a:r>
            <a:r>
              <a:rPr lang="fr-FR" dirty="0" err="1"/>
              <a:t>Backtest</a:t>
            </a:r>
            <a:endParaRPr lang="fr-FR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52D11FC-D992-E575-F05F-128C8F4519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563"/>
          <a:stretch>
            <a:fillRect/>
          </a:stretch>
        </p:blipFill>
        <p:spPr>
          <a:xfrm>
            <a:off x="584200" y="1294008"/>
            <a:ext cx="8183282" cy="203655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37A6ADE-3995-FA1C-FE68-397B36F3F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00" y="3673102"/>
            <a:ext cx="7525800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451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BA667A-80D4-F966-0168-B945D4FE9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Machine </a:t>
            </a:r>
            <a:r>
              <a:rPr lang="fr-FR" dirty="0" err="1"/>
              <a:t>learning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2C0FF1-ACDD-823F-E62C-69BC68B4F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4,47% sur train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EBD579D-A3D3-3172-9B80-19E58F392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856" y="1271334"/>
            <a:ext cx="6486144" cy="3360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479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CF9DA8-B48E-83BB-075B-7820D2850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Importance des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DBF437-C127-3CCC-F599-BC4974D1B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4ADEE21-7DB3-30BA-60DE-11E01FDDA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6010"/>
            <a:ext cx="6900672" cy="338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224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E2FDCE-B2E0-C54F-5DCA-B94CADBCB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 8 : </a:t>
            </a:r>
            <a:r>
              <a:rPr lang="fr-FR" dirty="0" err="1"/>
              <a:t>Reinforcement</a:t>
            </a:r>
            <a:r>
              <a:rPr lang="fr-FR" dirty="0"/>
              <a:t> </a:t>
            </a:r>
            <a:r>
              <a:rPr lang="fr-FR" dirty="0" err="1"/>
              <a:t>learning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A0B2F0-F6CA-D8A6-7F8F-5589A1D84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Agent aléatoire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2FC0C37-5AF8-644A-38E2-6D24E0A46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26" y="1880971"/>
            <a:ext cx="7506748" cy="309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0102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Stratégies &amp; Modélisation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1. Baseline : Règles Fixes</a:t>
            </a:r>
          </a:p>
          <a:p>
            <a:pPr lvl="1"/>
            <a:r>
              <a:t>Stratégie simple (ex: EMA Cross + RSI) pour établir un niveau de référence.</a:t>
            </a:r>
          </a:p>
          <a:p>
            <a:r>
              <a:t>2. Machine Learning</a:t>
            </a:r>
          </a:p>
          <a:p>
            <a:pPr lvl="1"/>
            <a:r>
              <a:t>Objectif : Prédire la direction (Hausse/Baisse) de la prochaine bougie.</a:t>
            </a:r>
          </a:p>
          <a:p>
            <a:pPr lvl="1"/>
            <a:r>
              <a:t>Algorithmes : Random Forest, Gradient Boosting.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385115-F8F0-9ADA-1D5C-45C6D73A5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A34695F-4349-90FD-FA12-A2963D35C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Protocole de Split Strict (Interdiction de split aléatoire) :</a:t>
            </a:r>
          </a:p>
          <a:p>
            <a:pPr lvl="1"/>
            <a:r>
              <a:rPr lang="fr-FR" dirty="0"/>
              <a:t>2022 : Entraînement (Train)</a:t>
            </a:r>
          </a:p>
          <a:p>
            <a:pPr lvl="1"/>
            <a:r>
              <a:rPr lang="fr-FR" dirty="0"/>
              <a:t>2023 : Validation / Optimisation</a:t>
            </a:r>
          </a:p>
          <a:p>
            <a:pPr lvl="1"/>
            <a:r>
              <a:rPr lang="fr-FR" dirty="0"/>
              <a:t>2024 : Test Final (Jamais vu par le modèle)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9077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Architecture Technique &amp; Industrialisation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Backend : API FastAPI</a:t>
            </a:r>
          </a:p>
          <a:p>
            <a:pPr lvl="1"/>
            <a:r>
              <a:t>Expose le meilleur modèle, gère les inférences.</a:t>
            </a:r>
          </a:p>
          <a:p>
            <a:r>
              <a:t>Frontend : Web App Flask</a:t>
            </a:r>
          </a:p>
          <a:p>
            <a:pPr lvl="1"/>
            <a:r>
              <a:t>Dashboard utilisateur, visualisation des prédictions.</a:t>
            </a:r>
          </a:p>
          <a:p>
            <a:r>
              <a:t>MLOps :</a:t>
            </a:r>
          </a:p>
          <a:p>
            <a:pPr lvl="1"/>
            <a:r>
              <a:t>Model Registry (Versioning v1/v2), Dockerisation.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 modèle performant n'est pas celui qui gagne le plus sur 2022, mais celui qui :</a:t>
            </a:r>
          </a:p>
          <a:p>
            <a:pPr lvl="1"/>
            <a:r>
              <a:t>Survit au changement de régime (Robustesse 2024).</a:t>
            </a:r>
          </a:p>
          <a:p>
            <a:pPr lvl="1"/>
            <a:r>
              <a:t>Tient compte des coûts de transaction.</a:t>
            </a:r>
          </a:p>
          <a:p>
            <a:pPr lvl="1"/>
            <a:r>
              <a:t>Évite l'overfitting temporel.</a:t>
            </a:r>
          </a:p>
          <a:p>
            <a:pPr lvl="1"/>
            <a:r>
              <a:t>Est reproductible et industrialisable.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5A850C-617E-1B56-039D-94724685E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Phase 10 – API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FCF444A-D378-CDBF-194A-85273C570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27805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A8C598-1580-4061-9E82-A09C09C75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Pourquoi nous c’est bon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36D9AD-E27B-535C-9233-AC260DB29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modèle facilement adaptable à la conjoncture</a:t>
            </a:r>
          </a:p>
          <a:p>
            <a:r>
              <a:rPr lang="fr-FR" dirty="0"/>
              <a:t>Un modèle de </a:t>
            </a:r>
            <a:r>
              <a:rPr lang="fr-FR" dirty="0" err="1"/>
              <a:t>Reinforcement</a:t>
            </a:r>
            <a:r>
              <a:rPr lang="fr-FR" dirty="0"/>
              <a:t> </a:t>
            </a:r>
            <a:r>
              <a:rPr lang="fr-FR" dirty="0" err="1"/>
              <a:t>learning</a:t>
            </a:r>
            <a:endParaRPr lang="fr-FR"/>
          </a:p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8814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1151</TotalTime>
  <Words>626</Words>
  <Application>Microsoft Office PowerPoint</Application>
  <PresentationFormat>Affichage à l'écran (4:3)</PresentationFormat>
  <Paragraphs>121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Consolas</vt:lpstr>
      <vt:lpstr>Wingdings</vt:lpstr>
      <vt:lpstr>Office Theme</vt:lpstr>
      <vt:lpstr>Projet Fil Rouge : Système de Trading GBP/USD</vt:lpstr>
      <vt:lpstr>Contexte &amp; Objectifs</vt:lpstr>
      <vt:lpstr>Phases du projet</vt:lpstr>
      <vt:lpstr>Données &amp; Split Temporel</vt:lpstr>
      <vt:lpstr>Phase 1 : Importation M1</vt:lpstr>
      <vt:lpstr>Phase 2 : Agrégation M1 -&gt; M15</vt:lpstr>
      <vt:lpstr>Phase 3 : Nettoyage</vt:lpstr>
      <vt:lpstr>Phase 4 : Analyse exploratoire</vt:lpstr>
      <vt:lpstr>Phase 5 – Feature engineering</vt:lpstr>
      <vt:lpstr>Feature Engineering V2</vt:lpstr>
      <vt:lpstr>Phase 6 – Baselines &amp; Backtest</vt:lpstr>
      <vt:lpstr>Machine learning</vt:lpstr>
      <vt:lpstr>Importance des features</vt:lpstr>
      <vt:lpstr>Phase 8 : Reinforcement learning</vt:lpstr>
      <vt:lpstr>Stratégies &amp; Modélisation</vt:lpstr>
      <vt:lpstr>Phase </vt:lpstr>
      <vt:lpstr>Architecture Technique &amp; Industrialisation</vt:lpstr>
      <vt:lpstr>Conclusion</vt:lpstr>
      <vt:lpstr>Phase 10 – API</vt:lpstr>
      <vt:lpstr>Pourquoi nous c’est bon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Jean-Corentin Loirat</dc:creator>
  <cp:keywords/>
  <dc:description>generated using python-pptx</dc:description>
  <cp:lastModifiedBy>Jean-Corentin Loirat</cp:lastModifiedBy>
  <cp:revision>12</cp:revision>
  <dcterms:created xsi:type="dcterms:W3CDTF">2013-01-27T09:14:16Z</dcterms:created>
  <dcterms:modified xsi:type="dcterms:W3CDTF">2026-02-13T10:29:55Z</dcterms:modified>
  <cp:category/>
</cp:coreProperties>
</file>