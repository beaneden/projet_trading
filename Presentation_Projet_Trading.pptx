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4" r:id="rId5"/>
    <p:sldId id="259" r:id="rId6"/>
    <p:sldId id="265" r:id="rId7"/>
    <p:sldId id="267" r:id="rId8"/>
    <p:sldId id="276" r:id="rId9"/>
    <p:sldId id="268" r:id="rId10"/>
    <p:sldId id="277" r:id="rId11"/>
    <p:sldId id="278" r:id="rId12"/>
    <p:sldId id="270" r:id="rId13"/>
    <p:sldId id="269" r:id="rId14"/>
    <p:sldId id="271" r:id="rId15"/>
    <p:sldId id="279" r:id="rId16"/>
    <p:sldId id="280" r:id="rId17"/>
    <p:sldId id="272" r:id="rId18"/>
    <p:sldId id="273" r:id="rId19"/>
    <p:sldId id="281" r:id="rId20"/>
    <p:sldId id="261" r:id="rId21"/>
    <p:sldId id="262" r:id="rId22"/>
    <p:sldId id="275" r:id="rId2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58" d="100"/>
          <a:sy n="58" d="100"/>
        </p:scale>
        <p:origin x="78" y="116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alphaModFix amt="50000"/>
            <a:lum/>
          </a:blip>
          <a:srcRect/>
          <a:stretch>
            <a:fillRect l="-20000" r="-20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/>
              <a:t>Système de Trading GBP/USD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fr-FR" dirty="0"/>
              <a:t>Ludovic Picard – Jean-Corentin Loirat</a:t>
            </a:r>
          </a:p>
          <a:p>
            <a:r>
              <a:rPr lang="fr-FR" dirty="0"/>
              <a:t>Février 2026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76E1333A-4E6F-FDED-EEFC-8598806626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217"/>
            <a:ext cx="3111313" cy="207420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Contexte &amp; 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ü"/>
            </a:pPr>
            <a:r>
              <a:rPr sz="2600" dirty="0"/>
              <a:t>Conception d'un </a:t>
            </a:r>
            <a:r>
              <a:rPr sz="2600" dirty="0" err="1"/>
              <a:t>système</a:t>
            </a:r>
            <a:r>
              <a:rPr sz="2600" dirty="0"/>
              <a:t> de </a:t>
            </a:r>
            <a:r>
              <a:rPr sz="2600" dirty="0" err="1"/>
              <a:t>décision</a:t>
            </a:r>
            <a:r>
              <a:rPr sz="2600" dirty="0"/>
              <a:t> </a:t>
            </a:r>
            <a:r>
              <a:rPr sz="2600" dirty="0" err="1"/>
              <a:t>algorithmique</a:t>
            </a:r>
            <a:r>
              <a:rPr sz="2600" dirty="0"/>
              <a:t> sur la </a:t>
            </a:r>
            <a:r>
              <a:rPr sz="2600" dirty="0" err="1"/>
              <a:t>paire</a:t>
            </a:r>
            <a:r>
              <a:rPr sz="2600" dirty="0"/>
              <a:t> GBP/USD.</a:t>
            </a:r>
            <a:endParaRPr lang="fr-FR" sz="2600" dirty="0"/>
          </a:p>
          <a:p>
            <a:pPr>
              <a:buFont typeface="Wingdings" panose="05000000000000000000" pitchFamily="2" charset="2"/>
              <a:buChar char="ü"/>
            </a:pPr>
            <a:endParaRPr sz="2600" dirty="0"/>
          </a:p>
          <a:p>
            <a:pPr>
              <a:buFont typeface="Wingdings" panose="05000000000000000000" pitchFamily="2" charset="2"/>
              <a:buChar char="ü"/>
            </a:pPr>
            <a:r>
              <a:rPr sz="2600" dirty="0"/>
              <a:t>Données : </a:t>
            </a:r>
            <a:endParaRPr lang="fr-FR" sz="2600" dirty="0"/>
          </a:p>
          <a:p>
            <a:pPr lvl="1">
              <a:buFont typeface="Wingdings" panose="05000000000000000000" pitchFamily="2" charset="2"/>
              <a:buChar char="ü"/>
            </a:pPr>
            <a:r>
              <a:rPr sz="2600" dirty="0" err="1"/>
              <a:t>Fréquence</a:t>
            </a:r>
            <a:r>
              <a:rPr sz="2600" dirty="0"/>
              <a:t> brute 1 minute -&gt; </a:t>
            </a:r>
            <a:r>
              <a:rPr sz="2600" dirty="0" err="1"/>
              <a:t>Décision</a:t>
            </a:r>
            <a:r>
              <a:rPr sz="2600" dirty="0"/>
              <a:t> 15 minutes.</a:t>
            </a:r>
            <a:endParaRPr lang="fr-FR" sz="2600" dirty="0"/>
          </a:p>
          <a:p>
            <a:pPr>
              <a:buFont typeface="Wingdings" panose="05000000000000000000" pitchFamily="2" charset="2"/>
              <a:buChar char="ü"/>
            </a:pPr>
            <a:endParaRPr sz="2600" dirty="0"/>
          </a:p>
          <a:p>
            <a:pPr>
              <a:buFont typeface="Wingdings" panose="05000000000000000000" pitchFamily="2" charset="2"/>
              <a:buChar char="ü"/>
            </a:pPr>
            <a:r>
              <a:rPr sz="2600" dirty="0"/>
              <a:t>Actions : BUY, SELL, HOLD.</a:t>
            </a:r>
            <a:endParaRPr lang="fr-FR" sz="2600" dirty="0"/>
          </a:p>
          <a:p>
            <a:pPr>
              <a:buFont typeface="Wingdings" panose="05000000000000000000" pitchFamily="2" charset="2"/>
              <a:buChar char="ü"/>
            </a:pPr>
            <a:endParaRPr sz="2600" dirty="0"/>
          </a:p>
          <a:p>
            <a:pPr>
              <a:buFont typeface="Wingdings" panose="05000000000000000000" pitchFamily="2" charset="2"/>
              <a:buChar char="ü"/>
            </a:pPr>
            <a:r>
              <a:rPr sz="2600" dirty="0"/>
              <a:t>Objectif : Maximiser le profit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Données &amp; Split </a:t>
            </a:r>
            <a:r>
              <a:rPr dirty="0" err="1"/>
              <a:t>Temporel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6257365" cy="4525963"/>
          </a:xfrm>
        </p:spPr>
        <p:txBody>
          <a:bodyPr/>
          <a:lstStyle/>
          <a:p>
            <a:pPr>
              <a:buFont typeface="Wingdings" panose="05000000000000000000" pitchFamily="2" charset="2"/>
              <a:buChar char="ü"/>
            </a:pPr>
            <a:r>
              <a:rPr dirty="0" err="1"/>
              <a:t>Période</a:t>
            </a:r>
            <a:r>
              <a:rPr dirty="0"/>
              <a:t> </a:t>
            </a:r>
            <a:r>
              <a:rPr lang="fr-FR" dirty="0"/>
              <a:t>étudiée</a:t>
            </a:r>
            <a:r>
              <a:rPr dirty="0"/>
              <a:t> : 2022 - 202</a:t>
            </a:r>
            <a:r>
              <a:rPr lang="fr-FR" dirty="0"/>
              <a:t>5</a:t>
            </a:r>
            <a:endParaRPr dirty="0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3E0EB7D3-96C2-08CD-BEBE-BC6EEF425F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031" y="2420083"/>
            <a:ext cx="4829849" cy="1533739"/>
          </a:xfrm>
          <a:prstGeom prst="rect">
            <a:avLst/>
          </a:prstGeom>
        </p:spPr>
      </p:pic>
      <p:graphicFrame>
        <p:nvGraphicFramePr>
          <p:cNvPr id="4" name="Tableau 3">
            <a:extLst>
              <a:ext uri="{FF2B5EF4-FFF2-40B4-BE49-F238E27FC236}">
                <a16:creationId xmlns:a16="http://schemas.microsoft.com/office/drawing/2014/main" id="{63C061F7-8E8A-851A-3CA5-0E0EDF0222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0895784"/>
              </p:ext>
            </p:extLst>
          </p:nvPr>
        </p:nvGraphicFramePr>
        <p:xfrm>
          <a:off x="553031" y="4451951"/>
          <a:ext cx="3827292" cy="1828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913646">
                  <a:extLst>
                    <a:ext uri="{9D8B030D-6E8A-4147-A177-3AD203B41FA5}">
                      <a16:colId xmlns:a16="http://schemas.microsoft.com/office/drawing/2014/main" val="4050864089"/>
                    </a:ext>
                  </a:extLst>
                </a:gridCol>
                <a:gridCol w="1913646">
                  <a:extLst>
                    <a:ext uri="{9D8B030D-6E8A-4147-A177-3AD203B41FA5}">
                      <a16:colId xmlns:a16="http://schemas.microsoft.com/office/drawing/2014/main" val="2856584891"/>
                    </a:ext>
                  </a:extLst>
                </a:gridCol>
              </a:tblGrid>
              <a:tr h="306748">
                <a:tc>
                  <a:txBody>
                    <a:bodyPr/>
                    <a:lstStyle/>
                    <a:p>
                      <a:r>
                        <a:rPr lang="fr-FR" dirty="0">
                          <a:solidFill>
                            <a:schemeClr val="bg1"/>
                          </a:solidFill>
                        </a:rPr>
                        <a:t>Année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dirty="0">
                          <a:solidFill>
                            <a:schemeClr val="bg1"/>
                          </a:solidFill>
                        </a:rPr>
                        <a:t>Variation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3005252"/>
                  </a:ext>
                </a:extLst>
              </a:tr>
              <a:tr h="306748">
                <a:tc>
                  <a:txBody>
                    <a:bodyPr/>
                    <a:lstStyle/>
                    <a:p>
                      <a:r>
                        <a:rPr lang="fr-FR" dirty="0"/>
                        <a:t>2022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fr-FR" dirty="0"/>
                        <a:t>-10,54%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555058107"/>
                  </a:ext>
                </a:extLst>
              </a:tr>
              <a:tr h="306748">
                <a:tc>
                  <a:txBody>
                    <a:bodyPr/>
                    <a:lstStyle/>
                    <a:p>
                      <a:r>
                        <a:rPr lang="fr-FR" dirty="0"/>
                        <a:t>2023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fr-FR" dirty="0"/>
                        <a:t>+5,55%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97072245"/>
                  </a:ext>
                </a:extLst>
              </a:tr>
              <a:tr h="306748">
                <a:tc>
                  <a:txBody>
                    <a:bodyPr/>
                    <a:lstStyle/>
                    <a:p>
                      <a:r>
                        <a:rPr lang="fr-FR" dirty="0"/>
                        <a:t>2024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fr-FR" dirty="0"/>
                        <a:t>-1,63%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801750295"/>
                  </a:ext>
                </a:extLst>
              </a:tr>
              <a:tr h="306748">
                <a:tc>
                  <a:txBody>
                    <a:bodyPr/>
                    <a:lstStyle/>
                    <a:p>
                      <a:r>
                        <a:rPr lang="fr-FR" dirty="0"/>
                        <a:t>2025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fr-FR" dirty="0"/>
                        <a:t>+7,67%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4968590"/>
                  </a:ext>
                </a:extLst>
              </a:tr>
            </a:tbl>
          </a:graphicData>
        </a:graphic>
      </p:graphicFrame>
      <p:pic>
        <p:nvPicPr>
          <p:cNvPr id="8" name="Image 7">
            <a:extLst>
              <a:ext uri="{FF2B5EF4-FFF2-40B4-BE49-F238E27FC236}">
                <a16:creationId xmlns:a16="http://schemas.microsoft.com/office/drawing/2014/main" id="{728FF1E4-F470-41C9-1557-540772AA7E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8711" y="2420083"/>
            <a:ext cx="3585192" cy="40670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78F5E64-B5DB-366D-E048-D18303BBCA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Phases du projet</a:t>
            </a:r>
          </a:p>
        </p:txBody>
      </p:sp>
      <p:graphicFrame>
        <p:nvGraphicFramePr>
          <p:cNvPr id="4" name="Espace réservé du contenu 3">
            <a:extLst>
              <a:ext uri="{FF2B5EF4-FFF2-40B4-BE49-F238E27FC236}">
                <a16:creationId xmlns:a16="http://schemas.microsoft.com/office/drawing/2014/main" id="{8F254A1E-1A59-25B0-AFAA-E69BFB6EC2C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29975411"/>
              </p:ext>
            </p:extLst>
          </p:nvPr>
        </p:nvGraphicFramePr>
        <p:xfrm>
          <a:off x="457199" y="1983002"/>
          <a:ext cx="4634754" cy="355718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85552">
                  <a:extLst>
                    <a:ext uri="{9D8B030D-6E8A-4147-A177-3AD203B41FA5}">
                      <a16:colId xmlns:a16="http://schemas.microsoft.com/office/drawing/2014/main" val="3065368859"/>
                    </a:ext>
                  </a:extLst>
                </a:gridCol>
                <a:gridCol w="3063650">
                  <a:extLst>
                    <a:ext uri="{9D8B030D-6E8A-4147-A177-3AD203B41FA5}">
                      <a16:colId xmlns:a16="http://schemas.microsoft.com/office/drawing/2014/main" val="3392257643"/>
                    </a:ext>
                  </a:extLst>
                </a:gridCol>
                <a:gridCol w="785552">
                  <a:extLst>
                    <a:ext uri="{9D8B030D-6E8A-4147-A177-3AD203B41FA5}">
                      <a16:colId xmlns:a16="http://schemas.microsoft.com/office/drawing/2014/main" val="1362748888"/>
                    </a:ext>
                  </a:extLst>
                </a:gridCol>
              </a:tblGrid>
              <a:tr h="46622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ID</a:t>
                      </a:r>
                      <a:endParaRPr lang="fr-FR" sz="1100" b="1" i="0" u="none" strike="noStrike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9525" marR="9525" marT="9525" marB="0" anchor="ctr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 Tâche </a:t>
                      </a:r>
                      <a:endParaRPr lang="fr-FR" sz="1100" b="1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Responsable</a:t>
                      </a:r>
                      <a:endParaRPr lang="fr-FR" sz="1100" b="1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3552870"/>
                  </a:ext>
                </a:extLst>
              </a:tr>
              <a:tr h="25758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u="none" strike="noStrike" dirty="0">
                          <a:effectLst/>
                        </a:rPr>
                        <a:t>T01 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u="none" strike="noStrike">
                          <a:effectLst/>
                        </a:rPr>
                        <a:t>Import M1 + contrôle régularité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u="none" strike="noStrike">
                          <a:effectLst/>
                        </a:rPr>
                        <a:t>JC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175861981"/>
                  </a:ext>
                </a:extLst>
              </a:tr>
              <a:tr h="25758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u="none" strike="noStrike" dirty="0">
                          <a:effectLst/>
                        </a:rPr>
                        <a:t>T02 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9525" marR="9525" marT="952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u="none" strike="noStrike" dirty="0">
                          <a:effectLst/>
                        </a:rPr>
                        <a:t>Agrégation M1→M15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u="none" strike="noStrike" dirty="0">
                          <a:effectLst/>
                        </a:rPr>
                        <a:t>Ludo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30323691"/>
                  </a:ext>
                </a:extLst>
              </a:tr>
              <a:tr h="25758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u="none" strike="noStrike" dirty="0">
                          <a:effectLst/>
                        </a:rPr>
                        <a:t>T03 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u="none" strike="noStrike">
                          <a:effectLst/>
                        </a:rPr>
                        <a:t>Nettoyage M15 + rapport qualité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u="none" strike="noStrike">
                          <a:effectLst/>
                        </a:rPr>
                        <a:t>JC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958814740"/>
                  </a:ext>
                </a:extLst>
              </a:tr>
              <a:tr h="25758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u="none" strike="noStrike">
                          <a:effectLst/>
                        </a:rPr>
                        <a:t>T04 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9525" marR="9525" marT="952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u="none" strike="noStrike">
                          <a:effectLst/>
                        </a:rPr>
                        <a:t>Analyse exploratoire + ADF/ACF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u="none" strike="noStrike" dirty="0">
                          <a:effectLst/>
                        </a:rPr>
                        <a:t>Ludo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3927417"/>
                  </a:ext>
                </a:extLst>
              </a:tr>
              <a:tr h="25758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u="none" strike="noStrike">
                          <a:effectLst/>
                        </a:rPr>
                        <a:t>T05 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u="none" strike="noStrike" dirty="0" err="1">
                          <a:effectLst/>
                        </a:rPr>
                        <a:t>Feature</a:t>
                      </a:r>
                      <a:r>
                        <a:rPr lang="fr-FR" sz="1100" u="none" strike="noStrike" dirty="0">
                          <a:effectLst/>
                        </a:rPr>
                        <a:t> Pack V2 (court terme + régime)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u="none" strike="noStrike">
                          <a:effectLst/>
                        </a:rPr>
                        <a:t>JC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781990339"/>
                  </a:ext>
                </a:extLst>
              </a:tr>
              <a:tr h="25758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u="none" strike="noStrike">
                          <a:effectLst/>
                        </a:rPr>
                        <a:t>T06 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9525" marR="9525" marT="952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u="none" strike="noStrike">
                          <a:effectLst/>
                        </a:rPr>
                        <a:t>Baseline règles + backtest simple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u="none" strike="noStrike" dirty="0">
                          <a:effectLst/>
                        </a:rPr>
                        <a:t>Ludo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61328506"/>
                  </a:ext>
                </a:extLst>
              </a:tr>
              <a:tr h="25758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u="none" strike="noStrike">
                          <a:effectLst/>
                        </a:rPr>
                        <a:t>T07 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u="none" strike="noStrike" dirty="0">
                          <a:effectLst/>
                        </a:rPr>
                        <a:t>ML (split temporel + modèles + éval)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u="none" strike="noStrike">
                          <a:effectLst/>
                        </a:rPr>
                        <a:t>JC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970218861"/>
                  </a:ext>
                </a:extLst>
              </a:tr>
              <a:tr h="25758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u="none" strike="noStrike">
                          <a:effectLst/>
                        </a:rPr>
                        <a:t>T08 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9525" marR="9525" marT="952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u="none" strike="noStrike">
                          <a:effectLst/>
                        </a:rPr>
                        <a:t>RL (env + reward + entraînement)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u="none" strike="noStrike" dirty="0">
                          <a:effectLst/>
                        </a:rPr>
                        <a:t>Ludo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308426"/>
                  </a:ext>
                </a:extLst>
              </a:tr>
              <a:tr h="25758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u="none" strike="noStrike">
                          <a:effectLst/>
                        </a:rPr>
                        <a:t>T09 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u="none" strike="noStrike" dirty="0">
                          <a:effectLst/>
                        </a:rPr>
                        <a:t>Évaluation robuste (benchmarks +2024)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u="none" strike="noStrike" dirty="0">
                          <a:effectLst/>
                        </a:rPr>
                        <a:t>JC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974394747"/>
                  </a:ext>
                </a:extLst>
              </a:tr>
              <a:tr h="25758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u="none" strike="noStrike">
                          <a:effectLst/>
                        </a:rPr>
                        <a:t>T10 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9525" marR="9525" marT="952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u="none" strike="noStrike" dirty="0">
                          <a:effectLst/>
                        </a:rPr>
                        <a:t>API (contrat + </a:t>
                      </a:r>
                      <a:r>
                        <a:rPr lang="fr-FR" sz="1100" u="none" strike="noStrike" dirty="0" err="1">
                          <a:effectLst/>
                        </a:rPr>
                        <a:t>endpoints</a:t>
                      </a:r>
                      <a:r>
                        <a:rPr lang="fr-FR" sz="1100" u="none" strike="noStrike" dirty="0">
                          <a:effectLst/>
                        </a:rPr>
                        <a:t> + chargement modèle)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u="none" strike="noStrike" dirty="0">
                          <a:effectLst/>
                        </a:rPr>
                        <a:t>Ludo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1230239"/>
                  </a:ext>
                </a:extLst>
              </a:tr>
              <a:tr h="25758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u="none" strike="noStrike">
                          <a:effectLst/>
                        </a:rPr>
                        <a:t>T11 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u="none" strike="noStrike" dirty="0">
                          <a:effectLst/>
                        </a:rPr>
                        <a:t>Versioning modèle (v1/v2 + </a:t>
                      </a:r>
                      <a:r>
                        <a:rPr lang="fr-FR" sz="1100" u="none" strike="noStrike" dirty="0" err="1">
                          <a:effectLst/>
                        </a:rPr>
                        <a:t>registry</a:t>
                      </a:r>
                      <a:r>
                        <a:rPr lang="fr-FR" sz="1100" u="none" strike="noStrike" dirty="0">
                          <a:effectLst/>
                        </a:rPr>
                        <a:t>)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u="none" strike="noStrike">
                          <a:effectLst/>
                        </a:rPr>
                        <a:t>JC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341802258"/>
                  </a:ext>
                </a:extLst>
              </a:tr>
              <a:tr h="25758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u="none" strike="noStrike">
                          <a:effectLst/>
                        </a:rPr>
                        <a:t>T12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u="none" strike="noStrike" dirty="0">
                          <a:effectLst/>
                        </a:rPr>
                        <a:t>Docker + exécution reproductible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u="none" strike="noStrike" dirty="0">
                          <a:effectLst/>
                        </a:rPr>
                        <a:t>Ludo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90964618"/>
                  </a:ext>
                </a:extLst>
              </a:tr>
            </a:tbl>
          </a:graphicData>
        </a:graphic>
      </p:graphicFrame>
      <p:pic>
        <p:nvPicPr>
          <p:cNvPr id="6" name="Image 5">
            <a:extLst>
              <a:ext uri="{FF2B5EF4-FFF2-40B4-BE49-F238E27FC236}">
                <a16:creationId xmlns:a16="http://schemas.microsoft.com/office/drawing/2014/main" id="{A8BE4EA7-BA88-7409-6A24-C4F2C0760E3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019"/>
          <a:stretch>
            <a:fillRect/>
          </a:stretch>
        </p:blipFill>
        <p:spPr>
          <a:xfrm>
            <a:off x="5881254" y="1134035"/>
            <a:ext cx="2805546" cy="5589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60393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1 : Importation M1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>
              <a:buFont typeface="Wingdings" panose="05000000000000000000" pitchFamily="2" charset="2"/>
              <a:buChar char="ü"/>
            </a:pPr>
            <a:r>
              <a:rPr sz="1800" dirty="0" err="1"/>
              <a:t>Nettoyage</a:t>
            </a:r>
            <a:r>
              <a:rPr lang="fr-FR" sz="1800" dirty="0"/>
              <a:t> : retrait des doublons</a:t>
            </a:r>
          </a:p>
          <a:p>
            <a:pPr lvl="1">
              <a:buFont typeface="Wingdings" panose="05000000000000000000" pitchFamily="2" charset="2"/>
              <a:buChar char="ü"/>
            </a:pPr>
            <a:endParaRPr lang="fr-FR" sz="1800" dirty="0"/>
          </a:p>
          <a:p>
            <a:pPr lvl="1">
              <a:buFont typeface="Wingdings" panose="05000000000000000000" pitchFamily="2" charset="2"/>
              <a:buChar char="ü"/>
            </a:pPr>
            <a:r>
              <a:rPr lang="fr-FR" sz="1800" dirty="0"/>
              <a:t>F</a:t>
            </a:r>
            <a:r>
              <a:rPr sz="1800" dirty="0" err="1"/>
              <a:t>usion</a:t>
            </a:r>
            <a:r>
              <a:rPr sz="1800" dirty="0"/>
              <a:t> date/</a:t>
            </a:r>
            <a:r>
              <a:rPr sz="1800" dirty="0" err="1"/>
              <a:t>heure</a:t>
            </a:r>
            <a:r>
              <a:rPr lang="fr-FR" sz="1800" dirty="0"/>
              <a:t> </a:t>
            </a:r>
          </a:p>
          <a:p>
            <a:pPr lvl="1">
              <a:buFont typeface="Wingdings" panose="05000000000000000000" pitchFamily="2" charset="2"/>
              <a:buChar char="ü"/>
            </a:pPr>
            <a:endParaRPr lang="fr-FR" sz="1800" dirty="0"/>
          </a:p>
          <a:p>
            <a:pPr lvl="1">
              <a:buFont typeface="Wingdings" panose="05000000000000000000" pitchFamily="2" charset="2"/>
              <a:buChar char="ü"/>
            </a:pPr>
            <a:r>
              <a:rPr lang="fr-FR" sz="1800" dirty="0"/>
              <a:t>V</a:t>
            </a:r>
            <a:r>
              <a:rPr sz="1800" dirty="0" err="1"/>
              <a:t>érification</a:t>
            </a:r>
            <a:r>
              <a:rPr sz="1800" dirty="0"/>
              <a:t> </a:t>
            </a:r>
            <a:r>
              <a:rPr sz="1800" dirty="0" err="1"/>
              <a:t>régularité</a:t>
            </a:r>
            <a:r>
              <a:rPr lang="fr-FR" sz="1800" dirty="0"/>
              <a:t> (gestion des gaps)</a:t>
            </a:r>
            <a:br>
              <a:rPr lang="fr-FR" dirty="0"/>
            </a:br>
            <a:endParaRPr lang="fr-FR" dirty="0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21E380A3-3702-009D-DE86-045AD7BAD5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1872" y="3429000"/>
            <a:ext cx="5963482" cy="857370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A65BBBA9-6C0B-180A-4E27-4234961F04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1872" y="4612328"/>
            <a:ext cx="6291072" cy="129094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D0FEC6C-90AE-3289-EEEE-E63B5A08EA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/>
              <a:t>2 : Agrégation M1 -&gt; M15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E0DE6B2-3A8B-834D-1875-91F728EFB4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>
              <a:buFont typeface="Wingdings" panose="05000000000000000000" pitchFamily="2" charset="2"/>
              <a:buChar char="ü"/>
            </a:pPr>
            <a:r>
              <a:rPr lang="fr-FR" dirty="0" err="1"/>
              <a:t>Resampling</a:t>
            </a:r>
            <a:r>
              <a:rPr lang="fr-FR" dirty="0"/>
              <a:t> : passage en bougies 15 minutes :</a:t>
            </a:r>
          </a:p>
          <a:p>
            <a:pPr lvl="2">
              <a:buFont typeface="Wingdings" panose="05000000000000000000" pitchFamily="2" charset="2"/>
              <a:buChar char="ü"/>
            </a:pPr>
            <a:r>
              <a:rPr lang="fr-FR" dirty="0"/>
              <a:t>open 15 minutes = open de la 1</a:t>
            </a:r>
            <a:r>
              <a:rPr lang="fr-FR" baseline="30000" dirty="0"/>
              <a:t>ère</a:t>
            </a:r>
            <a:r>
              <a:rPr lang="fr-FR" dirty="0"/>
              <a:t> minute</a:t>
            </a:r>
          </a:p>
          <a:p>
            <a:pPr lvl="2">
              <a:buFont typeface="Wingdings" panose="05000000000000000000" pitchFamily="2" charset="2"/>
              <a:buChar char="ü"/>
            </a:pPr>
            <a:r>
              <a:rPr lang="fr-FR" dirty="0"/>
              <a:t>High = maximum sur les 15 minutes</a:t>
            </a:r>
          </a:p>
          <a:p>
            <a:pPr lvl="2">
              <a:buFont typeface="Wingdings" panose="05000000000000000000" pitchFamily="2" charset="2"/>
              <a:buChar char="ü"/>
            </a:pPr>
            <a:r>
              <a:rPr lang="fr-FR" dirty="0"/>
              <a:t>Low = Minimum sur les 15 minutes</a:t>
            </a:r>
          </a:p>
          <a:p>
            <a:pPr lvl="2">
              <a:buFont typeface="Wingdings" panose="05000000000000000000" pitchFamily="2" charset="2"/>
              <a:buChar char="ü"/>
            </a:pPr>
            <a:r>
              <a:rPr lang="fr-FR" dirty="0"/>
              <a:t>Close = close de la dernière minute</a:t>
            </a:r>
          </a:p>
          <a:p>
            <a:pPr lvl="2">
              <a:buFont typeface="Wingdings" panose="05000000000000000000" pitchFamily="2" charset="2"/>
              <a:buChar char="ü"/>
            </a:pPr>
            <a:r>
              <a:rPr lang="fr-FR" dirty="0"/>
              <a:t>Intégration de </a:t>
            </a:r>
            <a:r>
              <a:rPr lang="fr-FR" dirty="0" err="1"/>
              <a:t>ticks</a:t>
            </a:r>
            <a:r>
              <a:rPr lang="fr-FR" dirty="0"/>
              <a:t> pour connaître le nombre de minutes dans une bougie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73D19FC3-5850-C0F4-7CA0-4AA1A9CC43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4548" y="4761911"/>
            <a:ext cx="5934903" cy="1943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26166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F4AA1B4-A763-C6A0-769C-53030240FD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/>
              <a:t>3 : Nettoyage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0D677F4-EC50-89A8-AC83-59E58C9A61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ü"/>
            </a:pPr>
            <a:r>
              <a:rPr lang="fr-FR" dirty="0"/>
              <a:t> Contrôle des valeurs 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fr-FR" dirty="0"/>
              <a:t>Filtre des bougies incomplètes (12ticks mini)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fr-FR" dirty="0"/>
              <a:t>Filtre des bougies anormales (high &lt; </a:t>
            </a:r>
            <a:r>
              <a:rPr lang="fr-FR" dirty="0" err="1"/>
              <a:t>low</a:t>
            </a:r>
            <a:r>
              <a:rPr lang="fr-FR" dirty="0"/>
              <a:t>)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fr-FR" dirty="0"/>
              <a:t>Gaps anormaux.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B6A3E131-CC12-9B15-D68F-81D2A4B7C6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7993" y="4110132"/>
            <a:ext cx="1752845" cy="1362265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73D68644-74FB-6FBC-2A1E-CEC5341440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66569" y="4110132"/>
            <a:ext cx="3801005" cy="962159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F3B45890-15ED-24C4-FD4A-D2DE9852EF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66569" y="5354530"/>
            <a:ext cx="5630061" cy="771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80898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9F9E0BA-48CB-89D0-C6E3-B4E9AD15B9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9D3CD0A-1834-05FF-F6F0-916D6D18F2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21193C2E-876D-A621-C604-D6AE84FA8F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9905" y="94533"/>
            <a:ext cx="5044189" cy="66689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07006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22A1059-F7C1-5FE1-63EB-53AB278D2B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4 : Analyse exploratoire</a:t>
            </a:r>
          </a:p>
        </p:txBody>
      </p:sp>
      <p:sp>
        <p:nvSpPr>
          <p:cNvPr id="13" name="Espace réservé du contenu 12">
            <a:extLst>
              <a:ext uri="{FF2B5EF4-FFF2-40B4-BE49-F238E27FC236}">
                <a16:creationId xmlns:a16="http://schemas.microsoft.com/office/drawing/2014/main" id="{D384B251-C903-D9C4-4DA6-985C102AC6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 dirty="0"/>
          </a:p>
        </p:txBody>
      </p:sp>
      <p:pic>
        <p:nvPicPr>
          <p:cNvPr id="16" name="Image 15">
            <a:extLst>
              <a:ext uri="{FF2B5EF4-FFF2-40B4-BE49-F238E27FC236}">
                <a16:creationId xmlns:a16="http://schemas.microsoft.com/office/drawing/2014/main" id="{F7175491-300A-0EC6-09C4-62214B50CC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80" y="1228205"/>
            <a:ext cx="5802284" cy="2871837"/>
          </a:xfrm>
          <a:prstGeom prst="rect">
            <a:avLst/>
          </a:prstGeom>
        </p:spPr>
      </p:pic>
      <p:pic>
        <p:nvPicPr>
          <p:cNvPr id="19" name="Image 18">
            <a:extLst>
              <a:ext uri="{FF2B5EF4-FFF2-40B4-BE49-F238E27FC236}">
                <a16:creationId xmlns:a16="http://schemas.microsoft.com/office/drawing/2014/main" id="{B3AAFB87-FA7C-C4B9-6C58-CB8259BF6D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282604"/>
            <a:ext cx="9144000" cy="2482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2312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B5E8F3E-55E1-8742-51E3-EFD4E6DE65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/>
              <a:t>Rendements et volumes par jour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D830BB08-C5CE-9638-CE7E-E5582F75CC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795" y="1340734"/>
            <a:ext cx="8056407" cy="2499745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03251DA7-FCFE-715F-75E2-1068C19946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998" y="4096342"/>
            <a:ext cx="4468029" cy="1860368"/>
          </a:xfrm>
          <a:prstGeom prst="rect">
            <a:avLst/>
          </a:prstGeom>
        </p:spPr>
      </p:pic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47A40BA7-5E3B-7645-2B01-0B037EE08A4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279841" y="4159136"/>
            <a:ext cx="4411866" cy="1773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24454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E3DDF82-51F1-063F-A423-871DA3D03C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Autocorrélation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22C9FF1-EF50-E255-20A7-5675B7FF5B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17B33CFA-D0D7-59D3-CAD9-227273C032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3350" y="1600200"/>
            <a:ext cx="7437300" cy="47469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69182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C474ACD-9FFC-4659-9837-3F0087302A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/>
              <a:t>5 – </a:t>
            </a:r>
            <a:r>
              <a:rPr lang="fr-FR" dirty="0" err="1"/>
              <a:t>Feature</a:t>
            </a:r>
            <a:r>
              <a:rPr lang="fr-FR" dirty="0"/>
              <a:t> engineering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BB0F750-C285-B7AE-B828-3BF5AB7DA3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ü"/>
            </a:pPr>
            <a:r>
              <a:rPr lang="fr-FR" sz="1400" dirty="0"/>
              <a:t>2 blocs : 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fr-FR" sz="1400" dirty="0"/>
              <a:t>Court terme : Dynamique immédiate du prix (</a:t>
            </a:r>
            <a:r>
              <a:rPr lang="fr-FR" sz="1400" dirty="0" err="1"/>
              <a:t>Returns</a:t>
            </a:r>
            <a:r>
              <a:rPr lang="fr-FR" sz="1400" dirty="0"/>
              <a:t>, RSI, Ranges)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fr-FR" sz="1400" dirty="0"/>
              <a:t>Contexte &amp; Régime : Tendances de fond (EDA 200, ADX) et volatilité (ATR)</a:t>
            </a:r>
            <a:br>
              <a:rPr lang="fr-FR" dirty="0"/>
            </a:br>
            <a:endParaRPr lang="fr-FR" dirty="0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807B0F95-C21C-4BD3-4F62-35F387FE40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6512" y="2542156"/>
            <a:ext cx="5016302" cy="4315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001444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4D2382F-65CE-32D3-3F6C-A4B2DC0791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Phase 6 – </a:t>
            </a:r>
            <a:r>
              <a:rPr lang="fr-FR" dirty="0" err="1"/>
              <a:t>Baselines</a:t>
            </a:r>
            <a:r>
              <a:rPr lang="fr-FR" dirty="0"/>
              <a:t> &amp; </a:t>
            </a:r>
            <a:r>
              <a:rPr lang="fr-FR" dirty="0" err="1"/>
              <a:t>Backtest</a:t>
            </a:r>
            <a:endParaRPr lang="fr-FR" dirty="0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2D20BD92-0EFD-6FED-C341-E4A8B8F9F5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 dirty="0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D219ED08-AB22-685C-0567-AD07E1ED58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17638"/>
            <a:ext cx="9144000" cy="1616546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00395AF9-3AA6-DAA7-6235-8CACD21931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1355" y="3216746"/>
            <a:ext cx="4345576" cy="35779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34518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7BA667A-80D4-F966-0168-B945D4FE9C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Machine </a:t>
            </a:r>
            <a:r>
              <a:rPr lang="fr-FR" dirty="0" err="1"/>
              <a:t>learning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D2C0FF1-ACDD-823F-E62C-69BC68B4F3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fr-FR" dirty="0"/>
          </a:p>
        </p:txBody>
      </p:sp>
      <p:graphicFrame>
        <p:nvGraphicFramePr>
          <p:cNvPr id="4" name="Tableau 3">
            <a:extLst>
              <a:ext uri="{FF2B5EF4-FFF2-40B4-BE49-F238E27FC236}">
                <a16:creationId xmlns:a16="http://schemas.microsoft.com/office/drawing/2014/main" id="{2D88CD23-8F7E-010D-667F-4E9F923BED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7455506"/>
              </p:ext>
            </p:extLst>
          </p:nvPr>
        </p:nvGraphicFramePr>
        <p:xfrm>
          <a:off x="210013" y="1557064"/>
          <a:ext cx="8723974" cy="4093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965449">
                  <a:extLst>
                    <a:ext uri="{9D8B030D-6E8A-4147-A177-3AD203B41FA5}">
                      <a16:colId xmlns:a16="http://schemas.microsoft.com/office/drawing/2014/main" val="4050864089"/>
                    </a:ext>
                  </a:extLst>
                </a:gridCol>
                <a:gridCol w="5758525">
                  <a:extLst>
                    <a:ext uri="{9D8B030D-6E8A-4147-A177-3AD203B41FA5}">
                      <a16:colId xmlns:a16="http://schemas.microsoft.com/office/drawing/2014/main" val="2856584891"/>
                    </a:ext>
                  </a:extLst>
                </a:gridCol>
              </a:tblGrid>
              <a:tr h="996632">
                <a:tc>
                  <a:txBody>
                    <a:bodyPr/>
                    <a:lstStyle/>
                    <a:p>
                      <a:r>
                        <a:rPr lang="fr-FR" dirty="0">
                          <a:solidFill>
                            <a:schemeClr val="bg1"/>
                          </a:solidFill>
                        </a:rPr>
                        <a:t>Modèle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dirty="0">
                          <a:solidFill>
                            <a:schemeClr val="bg1"/>
                          </a:solidFill>
                        </a:rPr>
                        <a:t>Résultats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3005252"/>
                  </a:ext>
                </a:extLst>
              </a:tr>
              <a:tr h="1103904">
                <a:tc>
                  <a:txBody>
                    <a:bodyPr/>
                    <a:lstStyle/>
                    <a:p>
                      <a:r>
                        <a:rPr lang="fr-FR" dirty="0"/>
                        <a:t>Régression logistique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fr-FR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555058107"/>
                  </a:ext>
                </a:extLst>
              </a:tr>
              <a:tr h="996632">
                <a:tc>
                  <a:txBody>
                    <a:bodyPr/>
                    <a:lstStyle/>
                    <a:p>
                      <a:r>
                        <a:rPr lang="fr-FR" dirty="0" err="1"/>
                        <a:t>Random</a:t>
                      </a:r>
                      <a:r>
                        <a:rPr lang="fr-FR" dirty="0"/>
                        <a:t> Forest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fr-FR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97072245"/>
                  </a:ext>
                </a:extLst>
              </a:tr>
              <a:tr h="996632">
                <a:tc>
                  <a:txBody>
                    <a:bodyPr/>
                    <a:lstStyle/>
                    <a:p>
                      <a:r>
                        <a:rPr lang="fr-FR" dirty="0"/>
                        <a:t>Gradient </a:t>
                      </a:r>
                      <a:r>
                        <a:rPr lang="fr-FR" dirty="0" err="1"/>
                        <a:t>boosting</a:t>
                      </a:r>
                      <a:endParaRPr lang="fr-FR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fr-FR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801750295"/>
                  </a:ext>
                </a:extLst>
              </a:tr>
            </a:tbl>
          </a:graphicData>
        </a:graphic>
      </p:graphicFrame>
      <p:pic>
        <p:nvPicPr>
          <p:cNvPr id="7" name="Image 6">
            <a:extLst>
              <a:ext uri="{FF2B5EF4-FFF2-40B4-BE49-F238E27FC236}">
                <a16:creationId xmlns:a16="http://schemas.microsoft.com/office/drawing/2014/main" id="{C5299595-9156-7C48-BC6F-9E58B0F83F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5938" y="4743356"/>
            <a:ext cx="5468049" cy="514444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DB157DA7-CEDB-08BF-6590-26EACC1120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5938" y="2655639"/>
            <a:ext cx="5010849" cy="552527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1F3B51CD-FCC7-46E2-0136-B385AD0825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65938" y="3679906"/>
            <a:ext cx="4591691" cy="657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14797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FA890A9-1FC5-0BCA-4837-BD54E9E255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Ecarts entre les modèles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F54025C-6539-7920-E3A3-F01C106D9B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335C54A0-A053-B439-33FF-3E64457A65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6917" y="1064570"/>
            <a:ext cx="2651760" cy="2308474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B06655B3-B5E1-C6BD-07D8-0120100CF1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120526"/>
            <a:ext cx="2651760" cy="2308474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DDC15EAB-636E-D528-A653-9AC49D985B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34192" y="3611562"/>
            <a:ext cx="6201295" cy="3050231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ACE280F5-70AD-BAE0-E8A6-23145913F5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75837" y="1064570"/>
            <a:ext cx="2748123" cy="2392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76673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C50C7BA-DD3E-E272-0683-DD600E36C3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Comparatif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BE85845-F259-386A-1FF1-2F1A89A04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120A413E-DE9E-01FF-FC7A-EEC750B7F0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696" y="1600200"/>
            <a:ext cx="8578607" cy="3619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588005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FCF9DA8-B48E-83BB-075B-7820D28500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Importance des </a:t>
            </a:r>
            <a:r>
              <a:rPr lang="fr-FR" dirty="0" err="1"/>
              <a:t>features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CDBF437-C127-3CCC-F599-BC4974D1BD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1D1D3F8D-816C-451C-856C-9586456461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60040"/>
            <a:ext cx="8229600" cy="33641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22243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1E2FDCE-B2E0-C54F-5DCA-B94CADBCBC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Phase 8 : </a:t>
            </a:r>
            <a:r>
              <a:rPr lang="fr-FR" dirty="0" err="1"/>
              <a:t>Reinforcement</a:t>
            </a:r>
            <a:r>
              <a:rPr lang="fr-FR" dirty="0"/>
              <a:t> </a:t>
            </a:r>
            <a:r>
              <a:rPr lang="fr-FR" dirty="0" err="1"/>
              <a:t>learning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BA0B2F0-F6CA-D8A6-7F8F-5589A1D843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Agent aléatoire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42FC0C37-5AF8-644A-38E2-6D24E0A460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626" y="1880971"/>
            <a:ext cx="7506748" cy="3096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301021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A87A67A-FD32-6DC3-D39D-4AE87A1BF1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Equity curves PPO vs Baselines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15DF2B0-79EC-2270-B7BC-2128D3DB49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55FA84D6-B5C3-F93F-9BEB-CBFF763262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841980"/>
            <a:ext cx="9144000" cy="2268708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5C792C98-C421-1EC8-9095-B78CA438EA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567887"/>
            <a:ext cx="9144000" cy="2015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291857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9 : Comparatifs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dirty="0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A06A1847-D699-D14A-4275-3B30E08970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3548" y="1799705"/>
            <a:ext cx="6296904" cy="1114581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FR" dirty="0"/>
              <a:t>10 : </a:t>
            </a:r>
            <a:r>
              <a:rPr dirty="0"/>
              <a:t>Architecture Technique &amp; </a:t>
            </a:r>
            <a:r>
              <a:rPr dirty="0" err="1"/>
              <a:t>Industrialisation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t>Backend : API FastAPI</a:t>
            </a:r>
          </a:p>
          <a:p>
            <a:pPr lvl="1"/>
            <a:r>
              <a:t>Expose le meilleur modèle, gère les inférences.</a:t>
            </a:r>
          </a:p>
          <a:p>
            <a:r>
              <a:t>Frontend : Web App Flask</a:t>
            </a:r>
          </a:p>
          <a:p>
            <a:pPr lvl="1"/>
            <a:r>
              <a:t>Dashboard utilisateur, visualisation des prédictions.</a:t>
            </a:r>
          </a:p>
          <a:p>
            <a:r>
              <a:t>MLOps :</a:t>
            </a:r>
          </a:p>
          <a:p>
            <a:pPr lvl="1"/>
            <a:r>
              <a:t>Model Registry (Versioning v1/v2), Dockerisation.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0A8C598-1580-4061-9E82-A09C09C754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Pourquoi nous c’est bon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136D9AD-E27B-535C-9233-AC260DB298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Un modèle facilement adaptable à la conjoncture</a:t>
            </a:r>
          </a:p>
          <a:p>
            <a:r>
              <a:rPr lang="fr-FR" dirty="0"/>
              <a:t>Un modèle de </a:t>
            </a:r>
            <a:r>
              <a:rPr lang="fr-FR" dirty="0" err="1"/>
              <a:t>Reinforcement</a:t>
            </a:r>
            <a:r>
              <a:rPr lang="fr-FR" dirty="0"/>
              <a:t> </a:t>
            </a:r>
            <a:r>
              <a:rPr lang="fr-FR" dirty="0" err="1"/>
              <a:t>learning</a:t>
            </a:r>
            <a:endParaRPr lang="fr-FR"/>
          </a:p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488143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1189</TotalTime>
  <Words>447</Words>
  <Application>Microsoft Office PowerPoint</Application>
  <PresentationFormat>Affichage à l'écran (4:3)</PresentationFormat>
  <Paragraphs>114</Paragraphs>
  <Slides>22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22</vt:i4>
      </vt:variant>
    </vt:vector>
  </HeadingPairs>
  <TitlesOfParts>
    <vt:vector size="27" baseType="lpstr">
      <vt:lpstr>Arial</vt:lpstr>
      <vt:lpstr>Calibri</vt:lpstr>
      <vt:lpstr>Consolas</vt:lpstr>
      <vt:lpstr>Wingdings</vt:lpstr>
      <vt:lpstr>Office Theme</vt:lpstr>
      <vt:lpstr>Système de Trading GBP/USD</vt:lpstr>
      <vt:lpstr>Contexte &amp; Objectifs</vt:lpstr>
      <vt:lpstr>Données &amp; Split Temporel</vt:lpstr>
      <vt:lpstr>Phases du projet</vt:lpstr>
      <vt:lpstr>1 : Importation M1</vt:lpstr>
      <vt:lpstr>2 : Agrégation M1 -&gt; M15</vt:lpstr>
      <vt:lpstr>3 : Nettoyage</vt:lpstr>
      <vt:lpstr>Présentation PowerPoint</vt:lpstr>
      <vt:lpstr>4 : Analyse exploratoire</vt:lpstr>
      <vt:lpstr>Rendements et volumes par jour</vt:lpstr>
      <vt:lpstr>Autocorrélation</vt:lpstr>
      <vt:lpstr>5 – Feature engineering</vt:lpstr>
      <vt:lpstr>Phase 6 – Baselines &amp; Backtest</vt:lpstr>
      <vt:lpstr>Machine learning</vt:lpstr>
      <vt:lpstr>Ecarts entre les modèles</vt:lpstr>
      <vt:lpstr>Comparatif</vt:lpstr>
      <vt:lpstr>Importance des features</vt:lpstr>
      <vt:lpstr>Phase 8 : Reinforcement learning</vt:lpstr>
      <vt:lpstr>Equity curves PPO vs Baselines</vt:lpstr>
      <vt:lpstr>9 : Comparatifs</vt:lpstr>
      <vt:lpstr>10 : Architecture Technique &amp; Industrialisation</vt:lpstr>
      <vt:lpstr>Pourquoi nous c’est bon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Jean-Corentin Loirat</dc:creator>
  <cp:keywords/>
  <dc:description>generated using python-pptx</dc:description>
  <cp:lastModifiedBy>Jean-Corentin Loirat</cp:lastModifiedBy>
  <cp:revision>18</cp:revision>
  <dcterms:created xsi:type="dcterms:W3CDTF">2013-01-27T09:14:16Z</dcterms:created>
  <dcterms:modified xsi:type="dcterms:W3CDTF">2026-02-13T11:10:26Z</dcterms:modified>
  <cp:category/>
</cp:coreProperties>
</file>