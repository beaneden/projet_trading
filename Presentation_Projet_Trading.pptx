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7" r:id="rId8"/>
    <p:sldId id="276" r:id="rId9"/>
    <p:sldId id="268" r:id="rId10"/>
    <p:sldId id="277" r:id="rId11"/>
    <p:sldId id="278" r:id="rId12"/>
    <p:sldId id="270" r:id="rId13"/>
    <p:sldId id="269" r:id="rId14"/>
    <p:sldId id="271" r:id="rId15"/>
    <p:sldId id="279" r:id="rId16"/>
    <p:sldId id="280" r:id="rId17"/>
    <p:sldId id="272" r:id="rId18"/>
    <p:sldId id="273" r:id="rId19"/>
    <p:sldId id="281" r:id="rId20"/>
    <p:sldId id="261" r:id="rId21"/>
    <p:sldId id="262" r:id="rId22"/>
    <p:sldId id="282" r:id="rId23"/>
    <p:sldId id="28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53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l="-20000" r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Système de Trading GBP/USD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Ludovic Picard – Jean-Corentin Loirat</a:t>
            </a:r>
          </a:p>
          <a:p>
            <a:r>
              <a:rPr lang="fr-FR" dirty="0"/>
              <a:t>Février 2026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6E1333A-4E6F-FDED-EEFC-859880662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7"/>
            <a:ext cx="3111313" cy="20742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sz="2600" dirty="0"/>
              <a:t>Conception d'un </a:t>
            </a:r>
            <a:r>
              <a:rPr sz="2600" dirty="0" err="1"/>
              <a:t>système</a:t>
            </a:r>
            <a:r>
              <a:rPr sz="2600" dirty="0"/>
              <a:t> de </a:t>
            </a:r>
            <a:r>
              <a:rPr sz="2600" dirty="0" err="1"/>
              <a:t>décision</a:t>
            </a:r>
            <a:r>
              <a:rPr sz="2600" dirty="0"/>
              <a:t> </a:t>
            </a:r>
            <a:r>
              <a:rPr sz="2600" dirty="0" err="1"/>
              <a:t>algorithmique</a:t>
            </a:r>
            <a:r>
              <a:rPr sz="2600" dirty="0"/>
              <a:t> sur la </a:t>
            </a:r>
            <a:r>
              <a:rPr sz="2600" dirty="0" err="1"/>
              <a:t>paire</a:t>
            </a:r>
            <a:r>
              <a:rPr sz="2600" dirty="0"/>
              <a:t> GBP/USD.</a:t>
            </a:r>
            <a:endParaRPr lang="fr-FR" sz="2600" dirty="0"/>
          </a:p>
          <a:p>
            <a:pPr>
              <a:buFont typeface="Wingdings" panose="05000000000000000000" pitchFamily="2" charset="2"/>
              <a:buChar char="ü"/>
            </a:pPr>
            <a:endParaRPr sz="2600" dirty="0"/>
          </a:p>
          <a:p>
            <a:pPr>
              <a:buFont typeface="Wingdings" panose="05000000000000000000" pitchFamily="2" charset="2"/>
              <a:buChar char="ü"/>
            </a:pPr>
            <a:r>
              <a:rPr sz="2600" dirty="0"/>
              <a:t>Données : </a:t>
            </a:r>
            <a:endParaRPr lang="fr-FR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sz="2600" dirty="0" err="1"/>
              <a:t>Fréquence</a:t>
            </a:r>
            <a:r>
              <a:rPr sz="2600" dirty="0"/>
              <a:t> brute 1 minute -&gt; </a:t>
            </a:r>
            <a:r>
              <a:rPr sz="2600" dirty="0" err="1"/>
              <a:t>Décision</a:t>
            </a:r>
            <a:r>
              <a:rPr sz="2600" dirty="0"/>
              <a:t> 15 minutes.</a:t>
            </a:r>
            <a:endParaRPr lang="fr-FR" sz="2600" dirty="0"/>
          </a:p>
          <a:p>
            <a:pPr>
              <a:buFont typeface="Wingdings" panose="05000000000000000000" pitchFamily="2" charset="2"/>
              <a:buChar char="ü"/>
            </a:pPr>
            <a:endParaRPr sz="2600" dirty="0"/>
          </a:p>
          <a:p>
            <a:pPr>
              <a:buFont typeface="Wingdings" panose="05000000000000000000" pitchFamily="2" charset="2"/>
              <a:buChar char="ü"/>
            </a:pPr>
            <a:r>
              <a:rPr sz="2600" dirty="0"/>
              <a:t>Actions : BUY, SELL, HOLD.</a:t>
            </a:r>
            <a:endParaRPr lang="fr-FR" sz="2600" dirty="0"/>
          </a:p>
          <a:p>
            <a:pPr>
              <a:buFont typeface="Wingdings" panose="05000000000000000000" pitchFamily="2" charset="2"/>
              <a:buChar char="ü"/>
            </a:pPr>
            <a:endParaRPr sz="2600" dirty="0"/>
          </a:p>
          <a:p>
            <a:pPr>
              <a:buFont typeface="Wingdings" panose="05000000000000000000" pitchFamily="2" charset="2"/>
              <a:buChar char="ü"/>
            </a:pPr>
            <a:r>
              <a:rPr sz="2600" dirty="0"/>
              <a:t>Objectif : Maximiser le profit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Données &amp; Split </a:t>
            </a:r>
            <a:r>
              <a:rPr dirty="0" err="1"/>
              <a:t>Temporel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57365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dirty="0" err="1"/>
              <a:t>Période</a:t>
            </a:r>
            <a:r>
              <a:rPr dirty="0"/>
              <a:t> </a:t>
            </a:r>
            <a:r>
              <a:rPr lang="fr-FR" dirty="0"/>
              <a:t>étudiée</a:t>
            </a:r>
            <a:r>
              <a:rPr dirty="0"/>
              <a:t> : 2022 - 202</a:t>
            </a:r>
            <a:r>
              <a:rPr lang="fr-FR" dirty="0"/>
              <a:t>5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0EB7D3-96C2-08CD-BEBE-BC6EEF425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31" y="2420083"/>
            <a:ext cx="4829849" cy="1533739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3C061F7-8E8A-851A-3CA5-0E0EDF022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95784"/>
              </p:ext>
            </p:extLst>
          </p:nvPr>
        </p:nvGraphicFramePr>
        <p:xfrm>
          <a:off x="553031" y="4451951"/>
          <a:ext cx="3827292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646">
                  <a:extLst>
                    <a:ext uri="{9D8B030D-6E8A-4147-A177-3AD203B41FA5}">
                      <a16:colId xmlns:a16="http://schemas.microsoft.com/office/drawing/2014/main" val="4050864089"/>
                    </a:ext>
                  </a:extLst>
                </a:gridCol>
                <a:gridCol w="1913646">
                  <a:extLst>
                    <a:ext uri="{9D8B030D-6E8A-4147-A177-3AD203B41FA5}">
                      <a16:colId xmlns:a16="http://schemas.microsoft.com/office/drawing/2014/main" val="2856584891"/>
                    </a:ext>
                  </a:extLst>
                </a:gridCol>
              </a:tblGrid>
              <a:tr h="306748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Année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Variation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005252"/>
                  </a:ext>
                </a:extLst>
              </a:tr>
              <a:tr h="306748">
                <a:tc>
                  <a:txBody>
                    <a:bodyPr/>
                    <a:lstStyle/>
                    <a:p>
                      <a:r>
                        <a:rPr lang="fr-FR" dirty="0"/>
                        <a:t>2022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dirty="0"/>
                        <a:t>-10,54%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55058107"/>
                  </a:ext>
                </a:extLst>
              </a:tr>
              <a:tr h="306748">
                <a:tc>
                  <a:txBody>
                    <a:bodyPr/>
                    <a:lstStyle/>
                    <a:p>
                      <a:r>
                        <a:rPr lang="fr-FR" dirty="0"/>
                        <a:t>2023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dirty="0"/>
                        <a:t>+5,55%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7072245"/>
                  </a:ext>
                </a:extLst>
              </a:tr>
              <a:tr h="306748">
                <a:tc>
                  <a:txBody>
                    <a:bodyPr/>
                    <a:lstStyle/>
                    <a:p>
                      <a:r>
                        <a:rPr lang="fr-FR" dirty="0"/>
                        <a:t>2024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dirty="0"/>
                        <a:t>-1,63%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1750295"/>
                  </a:ext>
                </a:extLst>
              </a:tr>
              <a:tr h="306748">
                <a:tc>
                  <a:txBody>
                    <a:bodyPr/>
                    <a:lstStyle/>
                    <a:p>
                      <a:r>
                        <a:rPr lang="fr-FR" dirty="0"/>
                        <a:t>2025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dirty="0"/>
                        <a:t>+7,67%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68590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728FF1E4-F470-41C9-1557-540772AA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711" y="2420083"/>
            <a:ext cx="3585192" cy="40670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8F5E64-B5DB-366D-E048-D18303BB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Phases du projet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F254A1E-1A59-25B0-AFAA-E69BFB6EC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975411"/>
              </p:ext>
            </p:extLst>
          </p:nvPr>
        </p:nvGraphicFramePr>
        <p:xfrm>
          <a:off x="457199" y="1983002"/>
          <a:ext cx="4634754" cy="3557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5552">
                  <a:extLst>
                    <a:ext uri="{9D8B030D-6E8A-4147-A177-3AD203B41FA5}">
                      <a16:colId xmlns:a16="http://schemas.microsoft.com/office/drawing/2014/main" val="3065368859"/>
                    </a:ext>
                  </a:extLst>
                </a:gridCol>
                <a:gridCol w="3063650">
                  <a:extLst>
                    <a:ext uri="{9D8B030D-6E8A-4147-A177-3AD203B41FA5}">
                      <a16:colId xmlns:a16="http://schemas.microsoft.com/office/drawing/2014/main" val="3392257643"/>
                    </a:ext>
                  </a:extLst>
                </a:gridCol>
                <a:gridCol w="785552">
                  <a:extLst>
                    <a:ext uri="{9D8B030D-6E8A-4147-A177-3AD203B41FA5}">
                      <a16:colId xmlns:a16="http://schemas.microsoft.com/office/drawing/2014/main" val="1362748888"/>
                    </a:ext>
                  </a:extLst>
                </a:gridCol>
              </a:tblGrid>
              <a:tr h="4662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Tâche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Responsable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52870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T01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Import M1 + contrôle régularité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JC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5861981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T02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Agrégation M1→M15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Ludo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323691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T03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Nettoyage M15 + rapport qualité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JC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8814740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T04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Analyse exploratoire + ADF/ACF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Ludo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927417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T05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 err="1">
                          <a:effectLst/>
                        </a:rPr>
                        <a:t>Feature</a:t>
                      </a:r>
                      <a:r>
                        <a:rPr lang="fr-FR" sz="1100" u="none" strike="noStrike" dirty="0">
                          <a:effectLst/>
                        </a:rPr>
                        <a:t> Pack V2 (court terme + régime)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JC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990339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T06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Baseline règles + backtest simple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Ludo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328506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T07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ML (split temporel + modèles + éval)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JC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218861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T08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RL (env + reward + entraînement)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Ludo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8426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T09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Évaluation robuste (benchmarks +2024)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JC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4394747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T10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API (contrat + </a:t>
                      </a:r>
                      <a:r>
                        <a:rPr lang="fr-FR" sz="1100" u="none" strike="noStrike" dirty="0" err="1">
                          <a:effectLst/>
                        </a:rPr>
                        <a:t>endpoints</a:t>
                      </a:r>
                      <a:r>
                        <a:rPr lang="fr-FR" sz="1100" u="none" strike="noStrike" dirty="0">
                          <a:effectLst/>
                        </a:rPr>
                        <a:t> + chargement modèle)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Ludo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230239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T11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Versioning modèle (v1/v2 + </a:t>
                      </a:r>
                      <a:r>
                        <a:rPr lang="fr-FR" sz="1100" u="none" strike="noStrike" dirty="0" err="1">
                          <a:effectLst/>
                        </a:rPr>
                        <a:t>registry</a:t>
                      </a:r>
                      <a:r>
                        <a:rPr lang="fr-FR" sz="1100" u="none" strike="noStrike" dirty="0">
                          <a:effectLst/>
                        </a:rPr>
                        <a:t>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JC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1802258"/>
                  </a:ext>
                </a:extLst>
              </a:tr>
              <a:tr h="257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T12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Docker + exécution reproductible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Ludo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964618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A8BE4EA7-BA88-7409-6A24-C4F2C0760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19"/>
          <a:stretch>
            <a:fillRect/>
          </a:stretch>
        </p:blipFill>
        <p:spPr>
          <a:xfrm>
            <a:off x="5881254" y="1134035"/>
            <a:ext cx="2805546" cy="558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3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 : Importation M1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sz="1800" dirty="0" err="1"/>
              <a:t>Nettoyage</a:t>
            </a:r>
            <a:r>
              <a:rPr lang="fr-FR" sz="1800" dirty="0"/>
              <a:t> : retrait des doublons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fr-FR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/>
              <a:t>F</a:t>
            </a:r>
            <a:r>
              <a:rPr sz="1800" dirty="0" err="1"/>
              <a:t>usion</a:t>
            </a:r>
            <a:r>
              <a:rPr sz="1800" dirty="0"/>
              <a:t> date/</a:t>
            </a:r>
            <a:r>
              <a:rPr sz="1800" dirty="0" err="1"/>
              <a:t>heure</a:t>
            </a:r>
            <a:r>
              <a:rPr lang="fr-FR" sz="1800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fr-FR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/>
              <a:t>V</a:t>
            </a:r>
            <a:r>
              <a:rPr sz="1800" dirty="0" err="1"/>
              <a:t>érification</a:t>
            </a:r>
            <a:r>
              <a:rPr sz="1800" dirty="0"/>
              <a:t> </a:t>
            </a:r>
            <a:r>
              <a:rPr sz="1800" dirty="0" err="1"/>
              <a:t>régularité</a:t>
            </a:r>
            <a:r>
              <a:rPr lang="fr-FR" sz="1800" dirty="0"/>
              <a:t> (gestion des gaps)</a:t>
            </a:r>
            <a:br>
              <a:rPr lang="fr-FR" dirty="0"/>
            </a:b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E380A3-3702-009D-DE86-045AD7BA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3429000"/>
            <a:ext cx="5963482" cy="85737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65BBBA9-6C0B-180A-4E27-4234961F0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612328"/>
            <a:ext cx="6291072" cy="1290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0FEC6C-90AE-3289-EEEE-E63B5A08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 : Agrégation M1 -&gt; M15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0DE6B2-3A8B-834D-1875-91F728EFB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fr-FR" dirty="0" err="1"/>
              <a:t>Resampling</a:t>
            </a:r>
            <a:r>
              <a:rPr lang="fr-FR" dirty="0"/>
              <a:t> : passage en bougies 15 minutes 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open 15 minutes = open de la 1</a:t>
            </a:r>
            <a:r>
              <a:rPr lang="fr-FR" baseline="30000" dirty="0"/>
              <a:t>ère</a:t>
            </a:r>
            <a:r>
              <a:rPr lang="fr-FR" dirty="0"/>
              <a:t> minute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High = maximum sur les 15 minutes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Low = Minimum sur les 15 minutes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Close = close de la dernière minute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Intégration de </a:t>
            </a:r>
            <a:r>
              <a:rPr lang="fr-FR" dirty="0" err="1"/>
              <a:t>ticks</a:t>
            </a:r>
            <a:r>
              <a:rPr lang="fr-FR" dirty="0"/>
              <a:t> pour connaître le nombre de minutes dans une bougie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D19FC3-5850-C0F4-7CA0-4AA1A9CC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548" y="4761911"/>
            <a:ext cx="5934903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4AA1B4-A763-C6A0-769C-53030240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 : Nettoyage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D677F4-EC50-89A8-AC83-59E58C9A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Contrôle des valeurs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Filtre des bougies incomplètes (12ticks mini)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Filtre des bougies anormales (high &lt; </a:t>
            </a:r>
            <a:r>
              <a:rPr lang="fr-FR" dirty="0" err="1"/>
              <a:t>low</a:t>
            </a:r>
            <a:r>
              <a:rPr lang="fr-FR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Gaps anormaux.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6A3E131-CC12-9B15-D68F-81D2A4B7C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93" y="4110132"/>
            <a:ext cx="1752845" cy="136226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D68644-74FB-6FBC-2A1E-CEC534144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69" y="4110132"/>
            <a:ext cx="3801005" cy="9621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3B45890-15ED-24C4-FD4A-D2DE9852E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569" y="5354530"/>
            <a:ext cx="563006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8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F9E0BA-48CB-89D0-C6E3-B4E9AD15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D3CD0A-1834-05FF-F6F0-916D6D18F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193C2E-876D-A621-C604-D6AE84FA8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905" y="94533"/>
            <a:ext cx="5044189" cy="666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00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A1059-F7C1-5FE1-63EB-53AB278D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 : Analyse exploratoire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D384B251-C903-D9C4-4DA6-985C102A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7175491-300A-0EC6-09C4-62214B50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28205"/>
            <a:ext cx="5802284" cy="287183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3AAFB87-FA7C-C4B9-6C58-CB8259BF6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2604"/>
            <a:ext cx="9144000" cy="248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E8F3E-55E1-8742-51E3-EFD4E6DE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Rendements et volumes par jour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30BB08-C5CE-9638-CE7E-E5582F75C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95" y="1340734"/>
            <a:ext cx="8056407" cy="249974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3251DA7-FCFE-715F-75E2-1068C1994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8" y="4096342"/>
            <a:ext cx="4468029" cy="1860368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7A40BA7-5E3B-7645-2B01-0B037EE08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9841" y="4159136"/>
            <a:ext cx="4411866" cy="17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4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DDF82-51F1-063F-A423-871DA3D0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Autocorrélation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2C9FF1-EF50-E255-20A7-5675B7FF5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B33CFA-D0D7-59D3-CAD9-227273C0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50" y="1600200"/>
            <a:ext cx="7437300" cy="474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1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474ACD-9FFC-4659-9837-3F008730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5 – </a:t>
            </a:r>
            <a:r>
              <a:rPr lang="fr-FR" dirty="0" err="1"/>
              <a:t>Feature</a:t>
            </a:r>
            <a:r>
              <a:rPr lang="fr-FR" dirty="0"/>
              <a:t>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B0F750-C285-B7AE-B828-3BF5AB7DA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FR" sz="1400" dirty="0"/>
              <a:t>2 blocs 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400" dirty="0"/>
              <a:t>Court terme : Dynamique immédiate du prix (</a:t>
            </a:r>
            <a:r>
              <a:rPr lang="fr-FR" sz="1400" dirty="0" err="1"/>
              <a:t>Returns</a:t>
            </a:r>
            <a:r>
              <a:rPr lang="fr-FR" sz="1400" dirty="0"/>
              <a:t>, RSI, Ranges)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400" dirty="0"/>
              <a:t>Contexte &amp; Régime : Tendances de fond (EDA 200, ADX) et volatilité (ATR)</a:t>
            </a:r>
            <a:br>
              <a:rPr lang="fr-FR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07B0F95-C21C-4BD3-4F62-35F387FE4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12" y="2542156"/>
            <a:ext cx="5016302" cy="431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14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2382F-65CE-32D3-3F6C-A4B2DC07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Phase 6 – </a:t>
            </a:r>
            <a:r>
              <a:rPr lang="fr-FR" dirty="0" err="1"/>
              <a:t>Baselines</a:t>
            </a:r>
            <a:r>
              <a:rPr lang="fr-FR" dirty="0"/>
              <a:t> &amp; </a:t>
            </a:r>
            <a:r>
              <a:rPr lang="fr-FR" dirty="0" err="1"/>
              <a:t>Backtest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20BD92-0EFD-6FED-C341-E4A8B8F9F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9ED08-AB22-685C-0567-AD07E1ED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161654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0395AF9-3AA6-DAA7-6235-8CACD2193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355" y="3216746"/>
            <a:ext cx="4345576" cy="357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5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A667A-80D4-F966-0168-B945D4FE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</a:t>
            </a:r>
            <a:r>
              <a:rPr lang="fr-FR" dirty="0" err="1"/>
              <a:t>learning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2C0FF1-ACDD-823F-E62C-69BC68B4F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D88CD23-8F7E-010D-667F-4E9F923BE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455506"/>
              </p:ext>
            </p:extLst>
          </p:nvPr>
        </p:nvGraphicFramePr>
        <p:xfrm>
          <a:off x="210013" y="1557064"/>
          <a:ext cx="8723974" cy="409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5449">
                  <a:extLst>
                    <a:ext uri="{9D8B030D-6E8A-4147-A177-3AD203B41FA5}">
                      <a16:colId xmlns:a16="http://schemas.microsoft.com/office/drawing/2014/main" val="4050864089"/>
                    </a:ext>
                  </a:extLst>
                </a:gridCol>
                <a:gridCol w="5758525">
                  <a:extLst>
                    <a:ext uri="{9D8B030D-6E8A-4147-A177-3AD203B41FA5}">
                      <a16:colId xmlns:a16="http://schemas.microsoft.com/office/drawing/2014/main" val="2856584891"/>
                    </a:ext>
                  </a:extLst>
                </a:gridCol>
              </a:tblGrid>
              <a:tr h="996632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Modèle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Résultats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005252"/>
                  </a:ext>
                </a:extLst>
              </a:tr>
              <a:tr h="1103904">
                <a:tc>
                  <a:txBody>
                    <a:bodyPr/>
                    <a:lstStyle/>
                    <a:p>
                      <a:r>
                        <a:rPr lang="fr-FR" dirty="0"/>
                        <a:t>Régression logistique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55058107"/>
                  </a:ext>
                </a:extLst>
              </a:tr>
              <a:tr h="996632">
                <a:tc>
                  <a:txBody>
                    <a:bodyPr/>
                    <a:lstStyle/>
                    <a:p>
                      <a:r>
                        <a:rPr lang="fr-FR" dirty="0" err="1"/>
                        <a:t>Random</a:t>
                      </a:r>
                      <a:r>
                        <a:rPr lang="fr-FR" dirty="0"/>
                        <a:t> Forest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7072245"/>
                  </a:ext>
                </a:extLst>
              </a:tr>
              <a:tr h="996632">
                <a:tc>
                  <a:txBody>
                    <a:bodyPr/>
                    <a:lstStyle/>
                    <a:p>
                      <a:r>
                        <a:rPr lang="fr-FR" dirty="0"/>
                        <a:t>Gradient </a:t>
                      </a:r>
                      <a:r>
                        <a:rPr lang="fr-FR" dirty="0" err="1"/>
                        <a:t>boosting</a:t>
                      </a:r>
                      <a:endParaRPr lang="fr-FR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1750295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C5299595-9156-7C48-BC6F-9E58B0F83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938" y="4743356"/>
            <a:ext cx="5468049" cy="51444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157DA7-CEDB-08BF-6590-26EACC11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938" y="2655639"/>
            <a:ext cx="5010849" cy="55252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F3B51CD-FCC7-46E2-0136-B385AD082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938" y="3679906"/>
            <a:ext cx="459169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79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890A9-1FC5-0BCA-4837-BD54E9E2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Ecarts entre les modèles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54025C-6539-7920-E3A3-F01C106D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5C54A0-A053-B439-33FF-3E64457A6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917" y="1064570"/>
            <a:ext cx="2651760" cy="23084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06655B3-B5E1-C6BD-07D8-0120100CF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0526"/>
            <a:ext cx="2651760" cy="23084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DC15EAB-636E-D528-A653-9AC49D985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92" y="3611562"/>
            <a:ext cx="6201295" cy="30502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CE280F5-70AD-BAE0-E8A6-23145913F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837" y="1064570"/>
            <a:ext cx="2748123" cy="239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67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0C7BA-DD3E-E272-0683-DD600E36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85845-F259-386A-1FF1-2F1A89A04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0A413E-DE9E-01FF-FC7A-EEC750B7F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6" y="1600200"/>
            <a:ext cx="8578607" cy="3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8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F9DA8-B48E-83BB-075B-7820D285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DBF437-C127-3CCC-F599-BC4974D1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D1D3F8D-816C-451C-856C-95864564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0040"/>
            <a:ext cx="8229600" cy="336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24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2FDCE-B2E0-C54F-5DCA-B94CADBC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Phase 8 : </a:t>
            </a:r>
            <a:r>
              <a:rPr lang="fr-FR" dirty="0" err="1"/>
              <a:t>Reinforcement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A0B2F0-F6CA-D8A6-7F8F-5589A1D84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Agent aléatoire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FC0C37-5AF8-644A-38E2-6D24E0A4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26" y="1880971"/>
            <a:ext cx="750674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10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7A67A-FD32-6DC3-D39D-4AE87A1B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Equity curves PPO vs Baselines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5DF2B0-79EC-2270-B7BC-2128D3DB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FA84D6-B5C3-F93F-9BEB-CBFF76326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1980"/>
            <a:ext cx="9144000" cy="22687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C792C98-C421-1EC8-9095-B78CA438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67887"/>
            <a:ext cx="9144000" cy="201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18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 : Comparatifs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06A1847-D699-D14A-4275-3B30E089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48" y="1799705"/>
            <a:ext cx="6296904" cy="11145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10 : </a:t>
            </a:r>
            <a:r>
              <a:rPr dirty="0"/>
              <a:t>Architecture Technique &amp; </a:t>
            </a:r>
            <a:r>
              <a:rPr dirty="0" err="1"/>
              <a:t>Industrialisation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Backend : API </a:t>
            </a:r>
            <a:r>
              <a:rPr dirty="0" err="1"/>
              <a:t>FastAPI</a:t>
            </a:r>
            <a:endParaRPr dirty="0"/>
          </a:p>
          <a:p>
            <a:pPr lvl="1"/>
            <a:r>
              <a:rPr dirty="0"/>
              <a:t>Expose le </a:t>
            </a:r>
            <a:r>
              <a:rPr dirty="0" err="1"/>
              <a:t>meilleur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, </a:t>
            </a:r>
            <a:r>
              <a:rPr dirty="0" err="1"/>
              <a:t>gère</a:t>
            </a:r>
            <a:r>
              <a:rPr dirty="0"/>
              <a:t> les </a:t>
            </a:r>
            <a:r>
              <a:rPr dirty="0" err="1"/>
              <a:t>inférences</a:t>
            </a:r>
            <a:r>
              <a:rPr dirty="0"/>
              <a:t>.</a:t>
            </a:r>
          </a:p>
          <a:p>
            <a:r>
              <a:rPr dirty="0"/>
              <a:t>Frontend : Web App Flask</a:t>
            </a:r>
          </a:p>
          <a:p>
            <a:pPr lvl="1"/>
            <a:r>
              <a:rPr dirty="0"/>
              <a:t>Dashboard </a:t>
            </a:r>
            <a:r>
              <a:rPr dirty="0" err="1"/>
              <a:t>utilisateur</a:t>
            </a:r>
            <a:r>
              <a:rPr dirty="0"/>
              <a:t>, </a:t>
            </a:r>
            <a:r>
              <a:rPr dirty="0" err="1"/>
              <a:t>visualisation</a:t>
            </a:r>
            <a:r>
              <a:rPr dirty="0"/>
              <a:t> des </a:t>
            </a:r>
            <a:r>
              <a:rPr dirty="0" err="1"/>
              <a:t>prédictions</a:t>
            </a:r>
            <a:r>
              <a:rPr dirty="0"/>
              <a:t>.</a:t>
            </a:r>
          </a:p>
          <a:p>
            <a:r>
              <a:rPr dirty="0" err="1"/>
              <a:t>MLOps</a:t>
            </a:r>
            <a:r>
              <a:rPr dirty="0"/>
              <a:t> :</a:t>
            </a:r>
          </a:p>
          <a:p>
            <a:pPr lvl="1"/>
            <a:r>
              <a:rPr dirty="0"/>
              <a:t>Model Registry (Versioning v1/v2), </a:t>
            </a:r>
            <a:r>
              <a:rPr dirty="0" err="1"/>
              <a:t>Dockerisation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9236E0-D18F-0758-C68D-6DD02780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7B7FFB-F693-CC1F-139C-31D109875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Plusieurs modèles capables de s’adapter aux années.</a:t>
            </a:r>
          </a:p>
          <a:p>
            <a:endParaRPr lang="fr-FR" dirty="0"/>
          </a:p>
          <a:p>
            <a:r>
              <a:rPr lang="fr-FR" dirty="0"/>
              <a:t>Un RL surpassant le machine </a:t>
            </a:r>
            <a:r>
              <a:rPr lang="fr-FR" dirty="0" err="1"/>
              <a:t>learning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L’ajout d’éléments contextuels permettra d’améliorer </a:t>
            </a:r>
            <a:r>
              <a:rPr lang="fr-FR"/>
              <a:t>les modèles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1816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F65CBA-7383-725C-4555-0EE8661E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74" y="2857500"/>
            <a:ext cx="8229600" cy="1143000"/>
          </a:xfrm>
        </p:spPr>
        <p:txBody>
          <a:bodyPr/>
          <a:lstStyle/>
          <a:p>
            <a:r>
              <a:rPr lang="fr-FR" dirty="0"/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294735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455</Words>
  <Application>Microsoft Office PowerPoint</Application>
  <PresentationFormat>Affichage à l'écran (4:3)</PresentationFormat>
  <Paragraphs>118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Wingdings</vt:lpstr>
      <vt:lpstr>Office Theme</vt:lpstr>
      <vt:lpstr>Système de Trading GBP/USD</vt:lpstr>
      <vt:lpstr>Contexte &amp; Objectifs</vt:lpstr>
      <vt:lpstr>Données &amp; Split Temporel</vt:lpstr>
      <vt:lpstr>Phases du projet</vt:lpstr>
      <vt:lpstr>1 : Importation M1</vt:lpstr>
      <vt:lpstr>2 : Agrégation M1 -&gt; M15</vt:lpstr>
      <vt:lpstr>3 : Nettoyage</vt:lpstr>
      <vt:lpstr>Présentation PowerPoint</vt:lpstr>
      <vt:lpstr>4 : Analyse exploratoire</vt:lpstr>
      <vt:lpstr>Rendements et volumes par jour</vt:lpstr>
      <vt:lpstr>Autocorrélation</vt:lpstr>
      <vt:lpstr>5 – Feature engineering</vt:lpstr>
      <vt:lpstr>Phase 6 – Baselines &amp; Backtest</vt:lpstr>
      <vt:lpstr>Machine learning</vt:lpstr>
      <vt:lpstr>Ecarts entre les modèles</vt:lpstr>
      <vt:lpstr>Comparatif</vt:lpstr>
      <vt:lpstr>Importance des features</vt:lpstr>
      <vt:lpstr>Phase 8 : Reinforcement learning</vt:lpstr>
      <vt:lpstr>Equity curves PPO vs Baselines</vt:lpstr>
      <vt:lpstr>9 : Comparatifs</vt:lpstr>
      <vt:lpstr>10 : Architecture Technique &amp; Industrialisation</vt:lpstr>
      <vt:lpstr>Conclusion</vt:lpstr>
      <vt:lpstr>Merci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Jean-Corentin Loirat</dc:creator>
  <cp:keywords/>
  <dc:description>generated using python-pptx</dc:description>
  <cp:lastModifiedBy>Jean-Corentin Loirat</cp:lastModifiedBy>
  <cp:revision>20</cp:revision>
  <dcterms:created xsi:type="dcterms:W3CDTF">2013-01-27T09:14:16Z</dcterms:created>
  <dcterms:modified xsi:type="dcterms:W3CDTF">2026-02-13T11:31:11Z</dcterms:modified>
  <cp:category/>
</cp:coreProperties>
</file>